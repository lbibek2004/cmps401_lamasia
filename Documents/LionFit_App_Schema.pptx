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b81f132-6558-217a-cd17-fd48e2e73523}">
          <p14:sldIdLst>
            <p14:sldId id="256"/>
            <p14:sldId id="257"/>
          </p14:sldIdLst>
        </p14:section>
        <p14:section name="App schema" id="{6c9a7b2c-f3bf-3216-d1ab-f5070e0f6e64}">
          <p14:sldIdLst>
            <p14:sldId id="258"/>
            <p14:sldId id="259"/>
            <p14:sldId id="260"/>
          </p14:sldIdLst>
        </p14:section>
        <p14:section name="Screens" id="{e54eb1e8-cc4d-6fd7-fc02-496d2677a36b}">
          <p14:sldIdLst>
            <p14:sldId id="261"/>
            <p14:sldId id="262"/>
            <p14:sldId id="263"/>
          </p14:sldIdLst>
        </p14:section>
        <p14:section name="Status" id="{f8cead39-eb0e-4e1f-c1bd-e961b6dd7944}">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LionFit plans and tracks workouts for SELU students using only the equipment that actually exists at Pennington. This deck walks through the app's structure, the database schema, what works today,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never talks to Postgres directly. Every request goes through supabase_flutter with the public anon key, and Row Level Security decides what each signed-in user can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table. Grey is Supabase's own auth table. Green tables are private: Row Level Security only returns rows where user_id is the signed-in user, and that includes admins. Gold tables are the shared catalog: everyone reads, only admins write. muscle_group_intensity is never written by the app; a statement-level trigger on workout_logs recomputes it for the affected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16 muscle materials are recolored in Dart before the model is loaded, so the same code works on web and Android. The colors come straight from the sets logged in workout_logs.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F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6035040" cy="14630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3703320"/>
            <a:ext cx="5852160" cy="146304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F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355080"/>
            <a:ext cx="3657600" cy="274320"/>
          </a:xfrm>
          <a:prstGeom prst="rect">
            <a:avLst/>
          </a:prstGeom>
          <a:noFill/>
          <a:ln/>
        </p:spPr>
        <p:txBody>
          <a:bodyPr wrap="square" lIns="0" tIns="0" rIns="0" bIns="0" rtlCol="0" anchor="ctr"/>
          <a:lstStyle/>
          <a:p>
            <a:pPr indent="0" marL="0">
              <a:buNone/>
            </a:pPr>
            <a:r>
              <a:rPr lang="en-US" sz="1000" dirty="0">
                <a:solidFill>
                  <a:schemeClr val="accent6"/>
                </a:solidFill>
              </a:rPr>
              <a:t>LionFit  |  CMPS 401</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463040"/>
            <a:ext cx="603504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SOUTHEASTERN LOUISIANA UNIVERSITY  ·  CMPS 401</a:t>
            </a:r>
            <a:endParaRPr lang="en-US" sz="1300" dirty="0"/>
          </a:p>
        </p:txBody>
      </p:sp>
      <p:sp>
        <p:nvSpPr>
          <p:cNvPr id="3" name="Text 0"/>
          <p:cNvSpPr/>
          <p:nvPr>
            <p:ph idx="100" type="title" hasCustomPrompt="1"/>
          </p:nvPr>
        </p:nvSpPr>
        <p:spPr>
          <a:xfrm>
            <a:off x="640080" y="2103120"/>
            <a:ext cx="6035040" cy="1463040"/>
          </a:xfrm>
          <a:prstGeom prst="rect">
            <a:avLst/>
          </a:prstGeom>
          <a:noFill/>
          <a:ln/>
        </p:spPr>
        <p:txBody>
          <a:bodyPr wrap="square" lIns="0" tIns="0" rIns="0" bIns="0" rtlCol="0" anchor="b"/>
          <a:lstStyle/>
          <a:p>
            <a:pPr algn="l" indent="0" marL="0">
              <a:buNone/>
            </a:pPr>
            <a:r>
              <a:rPr lang="en-US" sz="5400" b="1" dirty="0">
                <a:solidFill>
                  <a:schemeClr val="bg1"/>
                </a:solidFill>
              </a:rPr>
              <a:t>LionFit</a:t>
            </a:r>
            <a:endParaRPr lang="en-US" sz="5400" dirty="0"/>
          </a:p>
        </p:txBody>
      </p:sp>
      <p:sp>
        <p:nvSpPr>
          <p:cNvPr id="4" name="Text 0"/>
          <p:cNvSpPr/>
          <p:nvPr>
            <p:ph idx="101" type="body" hasCustomPrompt="1"/>
          </p:nvPr>
        </p:nvSpPr>
        <p:spPr>
          <a:xfrm>
            <a:off x="640080" y="3703320"/>
            <a:ext cx="5852160" cy="1463040"/>
          </a:xfrm>
          <a:prstGeom prst="rect">
            <a:avLst/>
          </a:prstGeom>
          <a:noFill/>
          <a:ln/>
        </p:spPr>
        <p:txBody>
          <a:bodyPr wrap="square" lIns="0" tIns="0" rIns="0" bIns="0" rtlCol="0" anchor="t"/>
          <a:lstStyle/>
          <a:p>
            <a:pPr indent="0" marL="0">
              <a:buNone/>
            </a:pPr>
            <a:r>
              <a:rPr lang="en-US" sz="1800" dirty="0">
                <a:solidFill>
                  <a:schemeClr val="accent3"/>
                </a:solidFill>
              </a:rPr>
              <a:t>An AI workout planner and tracker built around the equipment at the Pennington Rec Center</a:t>
            </a:r>
            <a:endParaRPr lang="en-US" sz="1800" dirty="0"/>
          </a:p>
        </p:txBody>
      </p:sp>
      <p:sp>
        <p:nvSpPr>
          <p:cNvPr id="5" name="Text 3"/>
          <p:cNvSpPr txBox="1"/>
          <p:nvPr/>
        </p:nvSpPr>
        <p:spPr>
          <a:xfrm>
            <a:off x="640080" y="5394960"/>
            <a:ext cx="5852160" cy="365760"/>
          </a:xfrm>
          <a:prstGeom prst="rect">
            <a:avLst/>
          </a:prstGeom>
          <a:noFill/>
          <a:ln/>
        </p:spPr>
        <p:txBody>
          <a:bodyPr wrap="square" lIns="0" tIns="0" rIns="0" bIns="0" rtlCol="0" anchor="ctr"/>
          <a:lstStyle/>
          <a:p>
            <a:pPr indent="0" marL="0">
              <a:buNone/>
            </a:pPr>
            <a:r>
              <a:rPr lang="en-US" sz="1400" dirty="0">
                <a:solidFill>
                  <a:schemeClr val="bg1"/>
                </a:solidFill>
              </a:rPr>
              <a:t>Flutter (Web + Android)  ·  Supabase  ·  3D muscle map</a:t>
            </a:r>
            <a:endParaRPr lang="en-US" sz="1400" dirty="0"/>
          </a:p>
        </p:txBody>
      </p:sp>
      <p:sp>
        <p:nvSpPr>
          <p:cNvPr id="6" name="Muscle map screenshot frame"/>
          <p:cNvSpPr/>
          <p:nvPr/>
        </p:nvSpPr>
        <p:spPr>
          <a:xfrm>
            <a:off x="6739128" y="2291249"/>
            <a:ext cx="5084064" cy="2275502"/>
          </a:xfrm>
          <a:prstGeom prst="roundRect">
            <a:avLst>
              <a:gd name="adj" fmla="val 4822"/>
            </a:avLst>
          </a:prstGeom>
          <a:solidFill>
            <a:schemeClr val="accent2"/>
          </a:solidFill>
          <a:ln w="12700">
            <a:solidFill>
              <a:schemeClr val="accent2"/>
            </a:solidFill>
            <a:prstDash val="solid"/>
          </a:ln>
          <a:effectLst>
            <a:outerShdw sx="100000" sy="100000" kx="0" ky="0" algn="bl" rotWithShape="0" blurRad="76200" dist="25400" dir="5400000">
              <a:srgbClr val="000000">
                <a:alpha val="18000"/>
              </a:srgbClr>
            </a:outerShdw>
          </a:effectLst>
        </p:spPr>
      </p:sp>
      <p:pic>
        <p:nvPicPr>
          <p:cNvPr id="7" name="Muscle map screenshot" descr="Muscle map screenshot">    </p:cNvPr>
          <p:cNvPicPr>
            <a:picLocks noChangeAspect="1"/>
          </p:cNvPicPr>
          <p:nvPr/>
        </p:nvPicPr>
        <p:blipFill>
          <a:blip r:embed="rId1"/>
          <a:stretch>
            <a:fillRect/>
          </a:stretch>
        </p:blipFill>
        <p:spPr>
          <a:xfrm>
            <a:off x="6812280" y="2364401"/>
            <a:ext cx="4937760" cy="21291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What LionFit does</a:t>
            </a:r>
            <a:endParaRPr lang="en-US" sz="3400" dirty="0"/>
          </a:p>
        </p:txBody>
      </p:sp>
      <p:sp>
        <p:nvSpPr>
          <p:cNvPr id="3" name="Card 1"/>
          <p:cNvSpPr/>
          <p:nvPr/>
        </p:nvSpPr>
        <p:spPr>
          <a:xfrm>
            <a:off x="548640" y="1600200"/>
            <a:ext cx="2606040" cy="3429000"/>
          </a:xfrm>
          <a:prstGeom prst="roundRect">
            <a:avLst>
              <a:gd name="adj" fmla="val 5263"/>
            </a:avLst>
          </a:prstGeom>
          <a:solidFill>
            <a:schemeClr val="bg2"/>
          </a:solidFill>
          <a:ln w="12700">
            <a:solidFill>
              <a:schemeClr val="bg2"/>
            </a:solidFill>
            <a:prstDash val="solid"/>
          </a:ln>
        </p:spPr>
      </p:sp>
      <p:sp>
        <p:nvSpPr>
          <p:cNvPr id="4" name="Card 1 badge"/>
          <p:cNvSpPr/>
          <p:nvPr/>
        </p:nvSpPr>
        <p:spPr>
          <a:xfrm>
            <a:off x="822960" y="1920240"/>
            <a:ext cx="548640" cy="548640"/>
          </a:xfrm>
          <a:prstGeom prst="ellipse">
            <a:avLst/>
          </a:prstGeom>
          <a:solidFill>
            <a:schemeClr val="accent2"/>
          </a:solidFill>
          <a:ln w="12700">
            <a:solidFill>
              <a:schemeClr val="accent2"/>
            </a:solidFill>
            <a:prstDash val="solid"/>
          </a:ln>
        </p:spPr>
      </p:sp>
      <p:sp>
        <p:nvSpPr>
          <p:cNvPr id="5" name="Card 1 badge label"/>
          <p:cNvSpPr txBox="1"/>
          <p:nvPr/>
        </p:nvSpPr>
        <p:spPr>
          <a:xfrm>
            <a:off x="822960" y="192024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6" name="Card 1 heading"/>
          <p:cNvSpPr txBox="1"/>
          <p:nvPr/>
        </p:nvSpPr>
        <p:spPr>
          <a:xfrm>
            <a:off x="822960" y="2697480"/>
            <a:ext cx="2057400" cy="868680"/>
          </a:xfrm>
          <a:prstGeom prst="rect">
            <a:avLst/>
          </a:prstGeom>
          <a:noFill/>
          <a:ln/>
        </p:spPr>
        <p:txBody>
          <a:bodyPr wrap="square" lIns="0" tIns="0" rIns="0" bIns="0" rtlCol="0" anchor="t"/>
          <a:lstStyle/>
          <a:p>
            <a:pPr indent="0" marL="0">
              <a:buNone/>
            </a:pPr>
            <a:r>
              <a:rPr lang="en-US" sz="1900" b="1" dirty="0">
                <a:solidFill>
                  <a:schemeClr val="tx2"/>
                </a:solidFill>
              </a:rPr>
              <a:t>Plans around real equipment</a:t>
            </a:r>
            <a:endParaRPr lang="en-US" sz="1900" dirty="0"/>
          </a:p>
        </p:txBody>
      </p:sp>
      <p:sp>
        <p:nvSpPr>
          <p:cNvPr id="7" name="Card 1 body"/>
          <p:cNvSpPr txBox="1"/>
          <p:nvPr/>
        </p:nvSpPr>
        <p:spPr>
          <a:xfrm>
            <a:off x="822960" y="3611880"/>
            <a:ext cx="2057400" cy="1737360"/>
          </a:xfrm>
          <a:prstGeom prst="rect">
            <a:avLst/>
          </a:prstGeom>
          <a:noFill/>
          <a:ln/>
        </p:spPr>
        <p:txBody>
          <a:bodyPr wrap="square" lIns="0" tIns="0" rIns="0" bIns="0" rtlCol="0" anchor="t"/>
          <a:lstStyle/>
          <a:p>
            <a:pPr indent="0" marL="0">
              <a:buNone/>
            </a:pPr>
            <a:r>
              <a:rPr lang="en-US" sz="1500" dirty="0">
                <a:solidFill>
                  <a:schemeClr val="tx1"/>
                </a:solidFill>
              </a:rPr>
              <a:t>Weekly plans (3–7 days) use only what Pennington stocks, with swaps when a machine is busy.</a:t>
            </a:r>
            <a:endParaRPr lang="en-US" sz="1500" dirty="0"/>
          </a:p>
        </p:txBody>
      </p:sp>
      <p:sp>
        <p:nvSpPr>
          <p:cNvPr id="8" name="Card 2"/>
          <p:cNvSpPr/>
          <p:nvPr/>
        </p:nvSpPr>
        <p:spPr>
          <a:xfrm>
            <a:off x="3367735" y="1600200"/>
            <a:ext cx="2606040" cy="3429000"/>
          </a:xfrm>
          <a:prstGeom prst="roundRect">
            <a:avLst>
              <a:gd name="adj" fmla="val 5263"/>
            </a:avLst>
          </a:prstGeom>
          <a:solidFill>
            <a:schemeClr val="bg2"/>
          </a:solidFill>
          <a:ln w="12700">
            <a:solidFill>
              <a:schemeClr val="bg2"/>
            </a:solidFill>
            <a:prstDash val="solid"/>
          </a:ln>
        </p:spPr>
      </p:sp>
      <p:sp>
        <p:nvSpPr>
          <p:cNvPr id="9" name="Card 2 badge"/>
          <p:cNvSpPr/>
          <p:nvPr/>
        </p:nvSpPr>
        <p:spPr>
          <a:xfrm>
            <a:off x="3642055" y="1920240"/>
            <a:ext cx="548640" cy="548640"/>
          </a:xfrm>
          <a:prstGeom prst="ellipse">
            <a:avLst/>
          </a:prstGeom>
          <a:solidFill>
            <a:schemeClr val="accent2"/>
          </a:solidFill>
          <a:ln w="12700">
            <a:solidFill>
              <a:schemeClr val="accent2"/>
            </a:solidFill>
            <a:prstDash val="solid"/>
          </a:ln>
        </p:spPr>
      </p:sp>
      <p:sp>
        <p:nvSpPr>
          <p:cNvPr id="10" name="Card 2 badge label"/>
          <p:cNvSpPr txBox="1"/>
          <p:nvPr/>
        </p:nvSpPr>
        <p:spPr>
          <a:xfrm>
            <a:off x="3642055" y="192024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1" name="Card 2 heading"/>
          <p:cNvSpPr txBox="1"/>
          <p:nvPr/>
        </p:nvSpPr>
        <p:spPr>
          <a:xfrm>
            <a:off x="3642055" y="2697480"/>
            <a:ext cx="2057400" cy="868680"/>
          </a:xfrm>
          <a:prstGeom prst="rect">
            <a:avLst/>
          </a:prstGeom>
          <a:noFill/>
          <a:ln/>
        </p:spPr>
        <p:txBody>
          <a:bodyPr wrap="square" lIns="0" tIns="0" rIns="0" bIns="0" rtlCol="0" anchor="t"/>
          <a:lstStyle/>
          <a:p>
            <a:pPr indent="0" marL="0">
              <a:buNone/>
            </a:pPr>
            <a:r>
              <a:rPr lang="en-US" sz="1900" b="1" dirty="0">
                <a:solidFill>
                  <a:schemeClr val="tx2"/>
                </a:solidFill>
              </a:rPr>
              <a:t>Logs every set</a:t>
            </a:r>
            <a:endParaRPr lang="en-US" sz="1900" dirty="0"/>
          </a:p>
        </p:txBody>
      </p:sp>
      <p:sp>
        <p:nvSpPr>
          <p:cNvPr id="12" name="Card 2 body"/>
          <p:cNvSpPr txBox="1"/>
          <p:nvPr/>
        </p:nvSpPr>
        <p:spPr>
          <a:xfrm>
            <a:off x="3642055" y="3611880"/>
            <a:ext cx="2057400" cy="1737360"/>
          </a:xfrm>
          <a:prstGeom prst="rect">
            <a:avLst/>
          </a:prstGeom>
          <a:noFill/>
          <a:ln/>
        </p:spPr>
        <p:txBody>
          <a:bodyPr wrap="square" lIns="0" tIns="0" rIns="0" bIns="0" rtlCol="0" anchor="t"/>
          <a:lstStyle/>
          <a:p>
            <a:pPr indent="0" marL="0">
              <a:buNone/>
            </a:pPr>
            <a:r>
              <a:rPr lang="en-US" sz="1500" dirty="0">
                <a:solidFill>
                  <a:schemeClr val="tx1"/>
                </a:solidFill>
              </a:rPr>
              <a:t>Weight in lb or kg, reps, set type and RPE or RIR. Each set is one database row.</a:t>
            </a:r>
            <a:endParaRPr lang="en-US" sz="1500" dirty="0"/>
          </a:p>
        </p:txBody>
      </p:sp>
      <p:sp>
        <p:nvSpPr>
          <p:cNvPr id="13" name="Card 3"/>
          <p:cNvSpPr/>
          <p:nvPr/>
        </p:nvSpPr>
        <p:spPr>
          <a:xfrm>
            <a:off x="6186830" y="1600200"/>
            <a:ext cx="2606040" cy="3429000"/>
          </a:xfrm>
          <a:prstGeom prst="roundRect">
            <a:avLst>
              <a:gd name="adj" fmla="val 5263"/>
            </a:avLst>
          </a:prstGeom>
          <a:solidFill>
            <a:schemeClr val="bg2"/>
          </a:solidFill>
          <a:ln w="12700">
            <a:solidFill>
              <a:schemeClr val="bg2"/>
            </a:solidFill>
            <a:prstDash val="solid"/>
          </a:ln>
        </p:spPr>
      </p:sp>
      <p:sp>
        <p:nvSpPr>
          <p:cNvPr id="14" name="Card 3 badge"/>
          <p:cNvSpPr/>
          <p:nvPr/>
        </p:nvSpPr>
        <p:spPr>
          <a:xfrm>
            <a:off x="6461150" y="1920240"/>
            <a:ext cx="548640" cy="548640"/>
          </a:xfrm>
          <a:prstGeom prst="ellipse">
            <a:avLst/>
          </a:prstGeom>
          <a:solidFill>
            <a:schemeClr val="accent2"/>
          </a:solidFill>
          <a:ln w="12700">
            <a:solidFill>
              <a:schemeClr val="accent2"/>
            </a:solidFill>
            <a:prstDash val="solid"/>
          </a:ln>
        </p:spPr>
      </p:sp>
      <p:sp>
        <p:nvSpPr>
          <p:cNvPr id="15" name="Card 3 badge label"/>
          <p:cNvSpPr txBox="1"/>
          <p:nvPr/>
        </p:nvSpPr>
        <p:spPr>
          <a:xfrm>
            <a:off x="6461150" y="192024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6" name="Card 3 heading"/>
          <p:cNvSpPr txBox="1"/>
          <p:nvPr/>
        </p:nvSpPr>
        <p:spPr>
          <a:xfrm>
            <a:off x="6461150" y="2697480"/>
            <a:ext cx="2057400" cy="868680"/>
          </a:xfrm>
          <a:prstGeom prst="rect">
            <a:avLst/>
          </a:prstGeom>
          <a:noFill/>
          <a:ln/>
        </p:spPr>
        <p:txBody>
          <a:bodyPr wrap="square" lIns="0" tIns="0" rIns="0" bIns="0" rtlCol="0" anchor="t"/>
          <a:lstStyle/>
          <a:p>
            <a:pPr indent="0" marL="0">
              <a:buNone/>
            </a:pPr>
            <a:r>
              <a:rPr lang="en-US" sz="1900" b="1" dirty="0">
                <a:solidFill>
                  <a:schemeClr val="tx2"/>
                </a:solidFill>
              </a:rPr>
              <a:t>Shows what you trained</a:t>
            </a:r>
            <a:endParaRPr lang="en-US" sz="1900" dirty="0"/>
          </a:p>
        </p:txBody>
      </p:sp>
      <p:sp>
        <p:nvSpPr>
          <p:cNvPr id="17" name="Card 3 body"/>
          <p:cNvSpPr txBox="1"/>
          <p:nvPr/>
        </p:nvSpPr>
        <p:spPr>
          <a:xfrm>
            <a:off x="6461150" y="3611880"/>
            <a:ext cx="2057400" cy="1737360"/>
          </a:xfrm>
          <a:prstGeom prst="rect">
            <a:avLst/>
          </a:prstGeom>
          <a:noFill/>
          <a:ln/>
        </p:spPr>
        <p:txBody>
          <a:bodyPr wrap="square" lIns="0" tIns="0" rIns="0" bIns="0" rtlCol="0" anchor="t"/>
          <a:lstStyle/>
          <a:p>
            <a:pPr indent="0" marL="0">
              <a:buNone/>
            </a:pPr>
            <a:r>
              <a:rPr lang="en-US" sz="1500" dirty="0">
                <a:solidFill>
                  <a:schemeClr val="tx1"/>
                </a:solidFill>
              </a:rPr>
              <a:t>A 3D body colored red, yellow or green by how much each muscle group was worked.</a:t>
            </a:r>
            <a:endParaRPr lang="en-US" sz="1500" dirty="0"/>
          </a:p>
        </p:txBody>
      </p:sp>
      <p:sp>
        <p:nvSpPr>
          <p:cNvPr id="18" name="Card 4"/>
          <p:cNvSpPr/>
          <p:nvPr/>
        </p:nvSpPr>
        <p:spPr>
          <a:xfrm>
            <a:off x="9005926" y="1600200"/>
            <a:ext cx="2606040" cy="3429000"/>
          </a:xfrm>
          <a:prstGeom prst="roundRect">
            <a:avLst>
              <a:gd name="adj" fmla="val 5263"/>
            </a:avLst>
          </a:prstGeom>
          <a:solidFill>
            <a:schemeClr val="bg2"/>
          </a:solidFill>
          <a:ln w="12700">
            <a:solidFill>
              <a:schemeClr val="bg2"/>
            </a:solidFill>
            <a:prstDash val="solid"/>
          </a:ln>
        </p:spPr>
      </p:sp>
      <p:sp>
        <p:nvSpPr>
          <p:cNvPr id="19" name="Card 4 badge"/>
          <p:cNvSpPr/>
          <p:nvPr/>
        </p:nvSpPr>
        <p:spPr>
          <a:xfrm>
            <a:off x="9280246" y="1920240"/>
            <a:ext cx="548640" cy="548640"/>
          </a:xfrm>
          <a:prstGeom prst="ellipse">
            <a:avLst/>
          </a:prstGeom>
          <a:solidFill>
            <a:schemeClr val="accent2"/>
          </a:solidFill>
          <a:ln w="12700">
            <a:solidFill>
              <a:schemeClr val="accent2"/>
            </a:solidFill>
            <a:prstDash val="solid"/>
          </a:ln>
        </p:spPr>
      </p:sp>
      <p:sp>
        <p:nvSpPr>
          <p:cNvPr id="20" name="Card 4 badge label"/>
          <p:cNvSpPr txBox="1"/>
          <p:nvPr/>
        </p:nvSpPr>
        <p:spPr>
          <a:xfrm>
            <a:off x="9280246" y="192024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21" name="Card 4 heading"/>
          <p:cNvSpPr txBox="1"/>
          <p:nvPr/>
        </p:nvSpPr>
        <p:spPr>
          <a:xfrm>
            <a:off x="9280246" y="2697480"/>
            <a:ext cx="2057400" cy="868680"/>
          </a:xfrm>
          <a:prstGeom prst="rect">
            <a:avLst/>
          </a:prstGeom>
          <a:noFill/>
          <a:ln/>
        </p:spPr>
        <p:txBody>
          <a:bodyPr wrap="square" lIns="0" tIns="0" rIns="0" bIns="0" rtlCol="0" anchor="t"/>
          <a:lstStyle/>
          <a:p>
            <a:pPr indent="0" marL="0">
              <a:buNone/>
            </a:pPr>
            <a:r>
              <a:rPr lang="en-US" sz="1900" b="1" dirty="0">
                <a:solidFill>
                  <a:schemeClr val="tx2"/>
                </a:solidFill>
              </a:rPr>
              <a:t>Suggests the next load</a:t>
            </a:r>
            <a:endParaRPr lang="en-US" sz="1900" dirty="0"/>
          </a:p>
        </p:txBody>
      </p:sp>
      <p:sp>
        <p:nvSpPr>
          <p:cNvPr id="22" name="Card 4 body"/>
          <p:cNvSpPr txBox="1"/>
          <p:nvPr/>
        </p:nvSpPr>
        <p:spPr>
          <a:xfrm>
            <a:off x="9280246" y="3611880"/>
            <a:ext cx="2057400" cy="1737360"/>
          </a:xfrm>
          <a:prstGeom prst="rect">
            <a:avLst/>
          </a:prstGeom>
          <a:noFill/>
          <a:ln/>
        </p:spPr>
        <p:txBody>
          <a:bodyPr wrap="square" lIns="0" tIns="0" rIns="0" bIns="0" rtlCol="0" anchor="t"/>
          <a:lstStyle/>
          <a:p>
            <a:pPr indent="0" marL="0">
              <a:buNone/>
            </a:pPr>
            <a:r>
              <a:rPr lang="en-US" sz="1500" dirty="0">
                <a:solidFill>
                  <a:schemeClr val="tx1"/>
                </a:solidFill>
              </a:rPr>
              <a:t>Uses your own history (volume, estimated 1RM, effort) to pick the next weight.</a:t>
            </a:r>
            <a:endParaRPr lang="en-US" sz="1500" dirty="0"/>
          </a:p>
        </p:txBody>
      </p:sp>
      <p:sp>
        <p:nvSpPr>
          <p:cNvPr id="23" name="Text 21"/>
          <p:cNvSpPr txBox="1"/>
          <p:nvPr/>
        </p:nvSpPr>
        <p:spPr>
          <a:xfrm>
            <a:off x="548640" y="5349240"/>
            <a:ext cx="11064240" cy="365760"/>
          </a:xfrm>
          <a:prstGeom prst="rect">
            <a:avLst/>
          </a:prstGeom>
          <a:noFill/>
          <a:ln/>
        </p:spPr>
        <p:txBody>
          <a:bodyPr wrap="square" lIns="0" tIns="0" rIns="0" bIns="0" rtlCol="0" anchor="ctr"/>
          <a:lstStyle/>
          <a:p>
            <a:pPr indent="0" marL="0">
              <a:buNone/>
            </a:pPr>
            <a:r>
              <a:rPr lang="en-US" sz="1200" i="1" dirty="0">
                <a:solidFill>
                  <a:schemeClr val="accent6"/>
                </a:solidFill>
              </a:rPr>
              <a:t>Card 4 is designed and the math is built and tested, but nothing on screen uses it yet.</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How the app is put together</a:t>
            </a:r>
            <a:endParaRPr lang="en-US" sz="3400" dirty="0"/>
          </a:p>
        </p:txBody>
      </p:sp>
      <p:sp>
        <p:nvSpPr>
          <p:cNvPr id="3" name="Text 1"/>
          <p:cNvSpPr txBox="1"/>
          <p:nvPr/>
        </p:nvSpPr>
        <p:spPr>
          <a:xfrm>
            <a:off x="548640" y="1325880"/>
            <a:ext cx="6766560" cy="320040"/>
          </a:xfrm>
          <a:prstGeom prst="rect">
            <a:avLst/>
          </a:prstGeom>
          <a:noFill/>
          <a:ln/>
        </p:spPr>
        <p:txBody>
          <a:bodyPr wrap="square" lIns="0" tIns="0" rIns="0" bIns="0" rtlCol="0" anchor="ctr"/>
          <a:lstStyle/>
          <a:p>
            <a:pPr indent="0" marL="0">
              <a:buNone/>
            </a:pPr>
            <a:r>
              <a:rPr lang="en-US" sz="1200" b="1" spc="100" kern="0" dirty="0">
                <a:solidFill>
                  <a:schemeClr val="accent2"/>
                </a:solidFill>
              </a:rPr>
              <a:t>FLUTTER APP  ·  one codebase for Web and Android</a:t>
            </a:r>
            <a:endParaRPr lang="en-US" sz="1200" dirty="0"/>
          </a:p>
        </p:txBody>
      </p:sp>
      <p:sp>
        <p:nvSpPr>
          <p:cNvPr id="4" name="Screens box"/>
          <p:cNvSpPr/>
          <p:nvPr/>
        </p:nvSpPr>
        <p:spPr>
          <a:xfrm>
            <a:off x="548640" y="1737360"/>
            <a:ext cx="3291840" cy="2148840"/>
          </a:xfrm>
          <a:prstGeom prst="roundRect">
            <a:avLst>
              <a:gd name="adj" fmla="val 5106"/>
            </a:avLst>
          </a:prstGeom>
          <a:solidFill>
            <a:schemeClr val="bg2"/>
          </a:solidFill>
          <a:ln w="12700">
            <a:solidFill>
              <a:schemeClr val="bg2"/>
            </a:solidFill>
            <a:prstDash val="solid"/>
          </a:ln>
        </p:spPr>
      </p:sp>
      <p:sp>
        <p:nvSpPr>
          <p:cNvPr id="5" name="Screens box heading"/>
          <p:cNvSpPr txBox="1"/>
          <p:nvPr/>
        </p:nvSpPr>
        <p:spPr>
          <a:xfrm>
            <a:off x="777240" y="1901952"/>
            <a:ext cx="2834640" cy="411480"/>
          </a:xfrm>
          <a:prstGeom prst="rect">
            <a:avLst/>
          </a:prstGeom>
          <a:noFill/>
          <a:ln/>
        </p:spPr>
        <p:txBody>
          <a:bodyPr wrap="square" lIns="0" tIns="0" rIns="0" bIns="0" rtlCol="0" anchor="ctr"/>
          <a:lstStyle/>
          <a:p>
            <a:pPr indent="0" marL="0">
              <a:buNone/>
            </a:pPr>
            <a:r>
              <a:rPr lang="en-US" sz="1800" b="1" dirty="0">
                <a:solidFill>
                  <a:schemeClr val="tx2"/>
                </a:solidFill>
              </a:rPr>
              <a:t>Screens  (lib/features)</a:t>
            </a:r>
            <a:endParaRPr lang="en-US" sz="1800" dirty="0"/>
          </a:p>
        </p:txBody>
      </p:sp>
      <p:sp>
        <p:nvSpPr>
          <p:cNvPr id="6" name="Screens box list"/>
          <p:cNvSpPr txBox="1"/>
          <p:nvPr/>
        </p:nvSpPr>
        <p:spPr>
          <a:xfrm>
            <a:off x="777240" y="2377440"/>
            <a:ext cx="2834640"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Landing, login, sign-up</a:t>
            </a:r>
            <a:endParaRPr lang="en-US" sz="1400" dirty="0"/>
          </a:p>
          <a:p>
            <a:pPr marL="342900" indent="-342900">
              <a:spcAft>
                <a:spcPts val="400"/>
              </a:spcAft>
              <a:buSzPct val="100000"/>
              <a:buChar char="•"/>
            </a:pPr>
            <a:r>
              <a:rPr lang="en-US" sz="1400" dirty="0">
                <a:solidFill>
                  <a:schemeClr val="tx2"/>
                </a:solidFill>
              </a:rPr>
              <a:t>Home</a:t>
            </a:r>
            <a:endParaRPr lang="en-US" sz="1400" dirty="0"/>
          </a:p>
          <a:p>
            <a:pPr marL="342900" indent="-342900">
              <a:spcAft>
                <a:spcPts val="400"/>
              </a:spcAft>
              <a:buSzPct val="100000"/>
              <a:buChar char="•"/>
            </a:pPr>
            <a:r>
              <a:rPr lang="en-US" sz="1400" dirty="0">
                <a:solidFill>
                  <a:schemeClr val="tx2"/>
                </a:solidFill>
              </a:rPr>
              <a:t>Log a workout  (/log)</a:t>
            </a:r>
            <a:endParaRPr lang="en-US" sz="1400" dirty="0"/>
          </a:p>
          <a:p>
            <a:pPr marL="342900" indent="-342900">
              <a:spcAft>
                <a:spcPts val="400"/>
              </a:spcAft>
              <a:buSzPct val="100000"/>
              <a:buChar char="•"/>
            </a:pPr>
            <a:r>
              <a:rPr lang="en-US" sz="1400" dirty="0">
                <a:solidFill>
                  <a:schemeClr val="tx2"/>
                </a:solidFill>
              </a:rPr>
              <a:t>Muscle map  (/map)</a:t>
            </a:r>
            <a:endParaRPr lang="en-US" sz="1400" dirty="0"/>
          </a:p>
        </p:txBody>
      </p:sp>
      <p:sp>
        <p:nvSpPr>
          <p:cNvPr id="7" name="Core box"/>
          <p:cNvSpPr/>
          <p:nvPr/>
        </p:nvSpPr>
        <p:spPr>
          <a:xfrm>
            <a:off x="4023360" y="1737360"/>
            <a:ext cx="3291840" cy="2148840"/>
          </a:xfrm>
          <a:prstGeom prst="roundRect">
            <a:avLst>
              <a:gd name="adj" fmla="val 5106"/>
            </a:avLst>
          </a:prstGeom>
          <a:solidFill>
            <a:schemeClr val="bg2"/>
          </a:solidFill>
          <a:ln w="12700">
            <a:solidFill>
              <a:schemeClr val="bg2"/>
            </a:solidFill>
            <a:prstDash val="solid"/>
          </a:ln>
        </p:spPr>
      </p:sp>
      <p:sp>
        <p:nvSpPr>
          <p:cNvPr id="8" name="Core box heading"/>
          <p:cNvSpPr txBox="1"/>
          <p:nvPr/>
        </p:nvSpPr>
        <p:spPr>
          <a:xfrm>
            <a:off x="4251960" y="1901952"/>
            <a:ext cx="2834640" cy="411480"/>
          </a:xfrm>
          <a:prstGeom prst="rect">
            <a:avLst/>
          </a:prstGeom>
          <a:noFill/>
          <a:ln/>
        </p:spPr>
        <p:txBody>
          <a:bodyPr wrap="square" lIns="0" tIns="0" rIns="0" bIns="0" rtlCol="0" anchor="ctr"/>
          <a:lstStyle/>
          <a:p>
            <a:pPr indent="0" marL="0">
              <a:buNone/>
            </a:pPr>
            <a:r>
              <a:rPr lang="en-US" sz="1800" b="1" dirty="0">
                <a:solidFill>
                  <a:schemeClr val="tx2"/>
                </a:solidFill>
              </a:rPr>
              <a:t>Shared core  (lib/core)</a:t>
            </a:r>
            <a:endParaRPr lang="en-US" sz="1800" dirty="0"/>
          </a:p>
        </p:txBody>
      </p:sp>
      <p:sp>
        <p:nvSpPr>
          <p:cNvPr id="9" name="Core box list"/>
          <p:cNvSpPr txBox="1"/>
          <p:nvPr/>
        </p:nvSpPr>
        <p:spPr>
          <a:xfrm>
            <a:off x="4251960" y="2377440"/>
            <a:ext cx="2834640"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Riverpod state + go_router</a:t>
            </a:r>
            <a:endParaRPr lang="en-US" sz="1400" dirty="0"/>
          </a:p>
          <a:p>
            <a:pPr marL="342900" indent="-342900">
              <a:spcAft>
                <a:spcPts val="400"/>
              </a:spcAft>
              <a:buSzPct val="100000"/>
              <a:buChar char="•"/>
            </a:pPr>
            <a:r>
              <a:rPr lang="en-US" sz="1400" dirty="0">
                <a:solidFill>
                  <a:schemeClr val="tx2"/>
                </a:solidFill>
              </a:rPr>
              <a:t>Green/gold theme, light + dark</a:t>
            </a:r>
            <a:endParaRPr lang="en-US" sz="1400" dirty="0"/>
          </a:p>
          <a:p>
            <a:pPr marL="342900" indent="-342900">
              <a:spcAft>
                <a:spcPts val="400"/>
              </a:spcAft>
              <a:buSzPct val="100000"/>
              <a:buChar char="•"/>
            </a:pPr>
            <a:r>
              <a:rPr lang="en-US" sz="1400" dirty="0">
                <a:solidFill>
                  <a:schemeClr val="tx2"/>
                </a:solidFill>
              </a:rPr>
              <a:t>Supabase client + auth</a:t>
            </a:r>
            <a:endParaRPr lang="en-US" sz="1400" dirty="0"/>
          </a:p>
        </p:txBody>
      </p:sp>
      <p:sp>
        <p:nvSpPr>
          <p:cNvPr id="10" name="Engine box"/>
          <p:cNvSpPr/>
          <p:nvPr/>
        </p:nvSpPr>
        <p:spPr>
          <a:xfrm>
            <a:off x="548640" y="4069080"/>
            <a:ext cx="6766560" cy="1965960"/>
          </a:xfrm>
          <a:prstGeom prst="roundRect">
            <a:avLst>
              <a:gd name="adj" fmla="val 5581"/>
            </a:avLst>
          </a:prstGeom>
          <a:solidFill>
            <a:schemeClr val="bg2"/>
          </a:solidFill>
          <a:ln w="12700">
            <a:solidFill>
              <a:schemeClr val="bg2"/>
            </a:solidFill>
            <a:prstDash val="solid"/>
          </a:ln>
        </p:spPr>
      </p:sp>
      <p:sp>
        <p:nvSpPr>
          <p:cNvPr id="11" name="Engine box heading"/>
          <p:cNvSpPr txBox="1"/>
          <p:nvPr/>
        </p:nvSpPr>
        <p:spPr>
          <a:xfrm>
            <a:off x="777240" y="4233672"/>
            <a:ext cx="6309360" cy="411480"/>
          </a:xfrm>
          <a:prstGeom prst="rect">
            <a:avLst/>
          </a:prstGeom>
          <a:noFill/>
          <a:ln/>
        </p:spPr>
        <p:txBody>
          <a:bodyPr wrap="square" lIns="0" tIns="0" rIns="0" bIns="0" rtlCol="0" anchor="ctr"/>
          <a:lstStyle/>
          <a:p>
            <a:pPr indent="0" marL="0">
              <a:buNone/>
            </a:pPr>
            <a:r>
              <a:rPr lang="en-US" sz="1800" b="1" dirty="0">
                <a:solidFill>
                  <a:schemeClr val="tx2"/>
                </a:solidFill>
              </a:rPr>
              <a:t>Training engine  (pure Dart, unit-tested)</a:t>
            </a:r>
            <a:endParaRPr lang="en-US" sz="1800" dirty="0"/>
          </a:p>
        </p:txBody>
      </p:sp>
      <p:sp>
        <p:nvSpPr>
          <p:cNvPr id="12" name="Engine box list"/>
          <p:cNvSpPr txBox="1"/>
          <p:nvPr/>
        </p:nvSpPr>
        <p:spPr>
          <a:xfrm>
            <a:off x="777240" y="4709160"/>
            <a:ext cx="630936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Estimated 1RM, volume, load rounding to real dumbbells/plates</a:t>
            </a:r>
            <a:endParaRPr lang="en-US" sz="1400" dirty="0"/>
          </a:p>
          <a:p>
            <a:pPr marL="342900" indent="-342900">
              <a:spcAft>
                <a:spcPts val="400"/>
              </a:spcAft>
              <a:buSzPct val="100000"/>
              <a:buChar char="•"/>
            </a:pPr>
            <a:r>
              <a:rPr lang="en-US" sz="1400" dirty="0">
                <a:solidFill>
                  <a:schemeClr val="tx2"/>
                </a:solidFill>
              </a:rPr>
              <a:t>Next-load progression from RPE/RIR</a:t>
            </a:r>
            <a:endParaRPr lang="en-US" sz="1400" dirty="0"/>
          </a:p>
          <a:p>
            <a:pPr marL="342900" indent="-342900">
              <a:spcAft>
                <a:spcPts val="400"/>
              </a:spcAft>
              <a:buSzPct val="100000"/>
              <a:buChar char="•"/>
            </a:pPr>
            <a:r>
              <a:rPr lang="en-US" sz="1400" dirty="0">
                <a:solidFill>
                  <a:schemeClr val="tx2"/>
                </a:solidFill>
              </a:rPr>
              <a:t>Muscle status: untrained / less trained / well trained</a:t>
            </a:r>
            <a:endParaRPr lang="en-US" sz="1400" dirty="0"/>
          </a:p>
        </p:txBody>
      </p:sp>
      <p:sp>
        <p:nvSpPr>
          <p:cNvPr id="13" name="App to backend arrow"/>
          <p:cNvSpPr/>
          <p:nvPr/>
        </p:nvSpPr>
        <p:spPr>
          <a:xfrm>
            <a:off x="7498080" y="3429000"/>
            <a:ext cx="822960" cy="548640"/>
          </a:xfrm>
          <a:prstGeom prst="rightArrow">
            <a:avLst/>
          </a:prstGeom>
          <a:solidFill>
            <a:schemeClr val="accent2"/>
          </a:solidFill>
          <a:ln w="12700">
            <a:solidFill>
              <a:schemeClr val="accent2"/>
            </a:solidFill>
            <a:prstDash val="solid"/>
          </a:ln>
        </p:spPr>
      </p:sp>
      <p:sp>
        <p:nvSpPr>
          <p:cNvPr id="14" name="Text 12"/>
          <p:cNvSpPr txBox="1"/>
          <p:nvPr/>
        </p:nvSpPr>
        <p:spPr>
          <a:xfrm>
            <a:off x="7269480" y="4023360"/>
            <a:ext cx="1280160" cy="548640"/>
          </a:xfrm>
          <a:prstGeom prst="rect">
            <a:avLst/>
          </a:prstGeom>
          <a:noFill/>
          <a:ln/>
        </p:spPr>
        <p:txBody>
          <a:bodyPr wrap="square" lIns="0" tIns="0" rIns="0" bIns="0" rtlCol="0" anchor="ctr"/>
          <a:lstStyle/>
          <a:p>
            <a:pPr algn="ctr" indent="0" marL="0">
              <a:buNone/>
            </a:pPr>
            <a:r>
              <a:rPr lang="en-US" sz="1100" dirty="0">
                <a:solidFill>
                  <a:schemeClr val="accent6"/>
                </a:solidFill>
              </a:rPr>
              <a:t>HTTPS</a:t>
            </a:r>
            <a:endParaRPr lang="en-US" sz="1100" dirty="0"/>
          </a:p>
          <a:p>
            <a:pPr algn="ctr" indent="0" marL="0">
              <a:buNone/>
            </a:pPr>
            <a:r>
              <a:rPr lang="en-US" sz="1100" dirty="0">
                <a:solidFill>
                  <a:schemeClr val="accent6"/>
                </a:solidFill>
              </a:rPr>
              <a:t>supabase_flutter</a:t>
            </a:r>
            <a:endParaRPr lang="en-US" sz="1100" dirty="0"/>
          </a:p>
        </p:txBody>
      </p:sp>
      <p:sp>
        <p:nvSpPr>
          <p:cNvPr id="15" name="Text 13"/>
          <p:cNvSpPr txBox="1"/>
          <p:nvPr/>
        </p:nvSpPr>
        <p:spPr>
          <a:xfrm>
            <a:off x="8503920" y="1325880"/>
            <a:ext cx="3108960" cy="320040"/>
          </a:xfrm>
          <a:prstGeom prst="rect">
            <a:avLst/>
          </a:prstGeom>
          <a:noFill/>
          <a:ln/>
        </p:spPr>
        <p:txBody>
          <a:bodyPr wrap="square" lIns="0" tIns="0" rIns="0" bIns="0" rtlCol="0" anchor="ctr"/>
          <a:lstStyle/>
          <a:p>
            <a:pPr indent="0" marL="0">
              <a:buNone/>
            </a:pPr>
            <a:r>
              <a:rPr lang="en-US" sz="1200" b="1" spc="100" kern="0" dirty="0">
                <a:solidFill>
                  <a:schemeClr val="accent2"/>
                </a:solidFill>
              </a:rPr>
              <a:t>SUPABASE  ·  hosted backend</a:t>
            </a:r>
            <a:endParaRPr lang="en-US" sz="1200" dirty="0"/>
          </a:p>
        </p:txBody>
      </p:sp>
      <p:sp>
        <p:nvSpPr>
          <p:cNvPr id="16" name="Supabase box"/>
          <p:cNvSpPr/>
          <p:nvPr/>
        </p:nvSpPr>
        <p:spPr>
          <a:xfrm>
            <a:off x="8503920" y="1737360"/>
            <a:ext cx="3136392" cy="4297680"/>
          </a:xfrm>
          <a:prstGeom prst="roundRect">
            <a:avLst>
              <a:gd name="adj" fmla="val 3499"/>
            </a:avLst>
          </a:prstGeom>
          <a:solidFill>
            <a:schemeClr val="tx2"/>
          </a:solidFill>
          <a:ln w="12700">
            <a:solidFill>
              <a:schemeClr val="tx2"/>
            </a:solidFill>
            <a:prstDash val="solid"/>
          </a:ln>
        </p:spPr>
      </p:sp>
      <p:sp>
        <p:nvSpPr>
          <p:cNvPr id="17" name="Supabase box heading"/>
          <p:cNvSpPr txBox="1"/>
          <p:nvPr/>
        </p:nvSpPr>
        <p:spPr>
          <a:xfrm>
            <a:off x="8732520" y="1901952"/>
            <a:ext cx="2679192" cy="411480"/>
          </a:xfrm>
          <a:prstGeom prst="rect">
            <a:avLst/>
          </a:prstGeom>
          <a:noFill/>
          <a:ln/>
        </p:spPr>
        <p:txBody>
          <a:bodyPr wrap="square" lIns="0" tIns="0" rIns="0" bIns="0" rtlCol="0" anchor="ctr"/>
          <a:lstStyle/>
          <a:p>
            <a:pPr indent="0" marL="0">
              <a:buNone/>
            </a:pPr>
            <a:r>
              <a:rPr lang="en-US" sz="1800" b="1" dirty="0">
                <a:solidFill>
                  <a:schemeClr val="bg1"/>
                </a:solidFill>
              </a:rPr>
              <a:t>Backend</a:t>
            </a:r>
            <a:endParaRPr lang="en-US" sz="1800" dirty="0"/>
          </a:p>
        </p:txBody>
      </p:sp>
      <p:sp>
        <p:nvSpPr>
          <p:cNvPr id="18" name="Supabase box list"/>
          <p:cNvSpPr txBox="1"/>
          <p:nvPr/>
        </p:nvSpPr>
        <p:spPr>
          <a:xfrm>
            <a:off x="8732520" y="2377440"/>
            <a:ext cx="2679192" cy="3520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Auth: email + password</a:t>
            </a:r>
            <a:endParaRPr lang="en-US" sz="1400" dirty="0"/>
          </a:p>
          <a:p>
            <a:pPr marL="342900" indent="-342900">
              <a:spcAft>
                <a:spcPts val="400"/>
              </a:spcAft>
              <a:buSzPct val="100000"/>
              <a:buChar char="•"/>
            </a:pPr>
            <a:r>
              <a:rPr lang="en-US" sz="1400" dirty="0">
                <a:solidFill>
                  <a:schemeClr val="bg1"/>
                </a:solidFill>
              </a:rPr>
              <a:t>Postgres: 8 tables</a:t>
            </a:r>
            <a:endParaRPr lang="en-US" sz="1400" dirty="0"/>
          </a:p>
          <a:p>
            <a:pPr marL="342900" indent="-342900">
              <a:spcAft>
                <a:spcPts val="400"/>
              </a:spcAft>
              <a:buSzPct val="100000"/>
              <a:buChar char="•"/>
            </a:pPr>
            <a:r>
              <a:rPr lang="en-US" sz="1400" dirty="0">
                <a:solidFill>
                  <a:schemeClr val="bg1"/>
                </a:solidFill>
              </a:rPr>
              <a:t>Row Level Security on every user table</a:t>
            </a:r>
            <a:endParaRPr lang="en-US" sz="1400" dirty="0"/>
          </a:p>
          <a:p>
            <a:pPr marL="342900" indent="-342900">
              <a:spcAft>
                <a:spcPts val="400"/>
              </a:spcAft>
              <a:buSzPct val="100000"/>
              <a:buChar char="•"/>
            </a:pPr>
            <a:r>
              <a:rPr lang="en-US" sz="1400" dirty="0">
                <a:solidFill>
                  <a:schemeClr val="bg1"/>
                </a:solidFill>
              </a:rPr>
              <a:t>Triggers keep the muscle-map rollup current</a:t>
            </a:r>
            <a:endParaRPr lang="en-US" sz="1400" dirty="0"/>
          </a:p>
          <a:p>
            <a:pPr marL="342900" indent="-342900">
              <a:spcAft>
                <a:spcPts val="400"/>
              </a:spcAft>
              <a:buSzPct val="100000"/>
              <a:buChar char="•"/>
            </a:pPr>
            <a:r>
              <a:rPr lang="en-US" sz="1400" dirty="0">
                <a:solidFill>
                  <a:schemeClr val="bg1"/>
                </a:solidFill>
              </a:rPr>
              <a:t>8 migrations, all applied</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Database schema (rough)</a:t>
            </a:r>
            <a:endParaRPr lang="en-US" sz="3400" dirty="0"/>
          </a:p>
        </p:txBody>
      </p:sp>
      <p:sp>
        <p:nvSpPr>
          <p:cNvPr id="3" name="auth.users table"/>
          <p:cNvSpPr/>
          <p:nvPr/>
        </p:nvSpPr>
        <p:spPr>
          <a:xfrm>
            <a:off x="548640" y="1325880"/>
            <a:ext cx="2468880" cy="1600200"/>
          </a:xfrm>
          <a:prstGeom prst="rect">
            <a:avLst/>
          </a:prstGeom>
          <a:solidFill>
            <a:schemeClr val="bg1"/>
          </a:solidFill>
          <a:ln w="19050">
            <a:solidFill>
              <a:schemeClr val="accent6"/>
            </a:solidFill>
            <a:prstDash val="solid"/>
          </a:ln>
          <a:effectLst>
            <a:outerShdw sx="100000" sy="100000" kx="0" ky="0" algn="bl" rotWithShape="0" blurRad="76200" dist="25400" dir="5400000">
              <a:srgbClr val="000000">
                <a:alpha val="18000"/>
              </a:srgbClr>
            </a:outerShdw>
          </a:effectLst>
        </p:spPr>
      </p:sp>
      <p:sp>
        <p:nvSpPr>
          <p:cNvPr id="4" name="auth.users header"/>
          <p:cNvSpPr/>
          <p:nvPr/>
        </p:nvSpPr>
        <p:spPr>
          <a:xfrm>
            <a:off x="548640" y="1325880"/>
            <a:ext cx="2468880" cy="384048"/>
          </a:xfrm>
          <a:prstGeom prst="rect">
            <a:avLst/>
          </a:prstGeom>
          <a:solidFill>
            <a:schemeClr val="accent6"/>
          </a:solidFill>
          <a:ln w="12700">
            <a:solidFill>
              <a:schemeClr val="accent6"/>
            </a:solidFill>
            <a:prstDash val="solid"/>
          </a:ln>
        </p:spPr>
      </p:sp>
      <p:sp>
        <p:nvSpPr>
          <p:cNvPr id="5" name="auth.users name"/>
          <p:cNvSpPr txBox="1"/>
          <p:nvPr/>
        </p:nvSpPr>
        <p:spPr>
          <a:xfrm>
            <a:off x="658368" y="1325880"/>
            <a:ext cx="2249424" cy="384048"/>
          </a:xfrm>
          <a:prstGeom prst="rect">
            <a:avLst/>
          </a:prstGeom>
          <a:noFill/>
          <a:ln/>
        </p:spPr>
        <p:txBody>
          <a:bodyPr wrap="square" lIns="0" tIns="0" rIns="0" bIns="0" rtlCol="0" anchor="ctr"/>
          <a:lstStyle/>
          <a:p>
            <a:pPr indent="0" marL="0">
              <a:buNone/>
            </a:pPr>
            <a:r>
              <a:rPr lang="en-US" sz="1300" b="1" dirty="0">
                <a:solidFill>
                  <a:schemeClr val="bg1"/>
                </a:solidFill>
              </a:rPr>
              <a:t>auth.users</a:t>
            </a:r>
            <a:endParaRPr lang="en-US" sz="1300" dirty="0"/>
          </a:p>
        </p:txBody>
      </p:sp>
      <p:sp>
        <p:nvSpPr>
          <p:cNvPr id="6" name="auth.users columns"/>
          <p:cNvSpPr txBox="1"/>
          <p:nvPr/>
        </p:nvSpPr>
        <p:spPr>
          <a:xfrm>
            <a:off x="658368" y="1783080"/>
            <a:ext cx="2249424" cy="1069848"/>
          </a:xfrm>
          <a:prstGeom prst="rect">
            <a:avLst/>
          </a:prstGeom>
          <a:noFill/>
          <a:ln/>
        </p:spPr>
        <p:txBody>
          <a:bodyPr wrap="square" lIns="0" tIns="0" rIns="0" bIns="0" rtlCol="0" anchor="t"/>
          <a:lstStyle/>
          <a:p>
            <a:pPr indent="0" marL="0">
              <a:spcAft>
                <a:spcPts val="200"/>
              </a:spcAft>
              <a:buNone/>
            </a:pPr>
            <a:r>
              <a:rPr lang="en-US" sz="1100" dirty="0">
                <a:solidFill>
                  <a:schemeClr val="tx1"/>
                </a:solidFill>
              </a:rPr>
              <a:t>id  (PK)</a:t>
            </a:r>
            <a:endParaRPr lang="en-US" sz="1100" dirty="0"/>
          </a:p>
          <a:p>
            <a:pPr indent="0" marL="0">
              <a:spcAft>
                <a:spcPts val="200"/>
              </a:spcAft>
              <a:buNone/>
            </a:pPr>
            <a:r>
              <a:rPr lang="en-US" sz="1100" dirty="0">
                <a:solidFill>
                  <a:schemeClr val="tx1"/>
                </a:solidFill>
              </a:rPr>
              <a:t>email</a:t>
            </a:r>
            <a:endParaRPr lang="en-US" sz="1100" dirty="0"/>
          </a:p>
          <a:p>
            <a:pPr indent="0" marL="0">
              <a:spcAft>
                <a:spcPts val="200"/>
              </a:spcAft>
              <a:buNone/>
            </a:pPr>
            <a:r>
              <a:rPr lang="en-US" sz="1100" dirty="0">
                <a:solidFill>
                  <a:schemeClr val="tx1"/>
                </a:solidFill>
              </a:rPr>
              <a:t>password (hashed)</a:t>
            </a:r>
            <a:endParaRPr lang="en-US" sz="1100" dirty="0"/>
          </a:p>
          <a:p>
            <a:pPr indent="0" marL="0">
              <a:spcAft>
                <a:spcPts val="200"/>
              </a:spcAft>
              <a:buNone/>
            </a:pPr>
            <a:r>
              <a:rPr lang="en-US" sz="1100" dirty="0">
                <a:solidFill>
                  <a:schemeClr val="tx1"/>
                </a:solidFill>
              </a:rPr>
              <a:t>managed by Supabase Auth</a:t>
            </a:r>
            <a:endParaRPr lang="en-US" sz="1100" dirty="0"/>
          </a:p>
        </p:txBody>
      </p:sp>
      <p:sp>
        <p:nvSpPr>
          <p:cNvPr id="7" name="user_workouts table"/>
          <p:cNvSpPr/>
          <p:nvPr/>
        </p:nvSpPr>
        <p:spPr>
          <a:xfrm>
            <a:off x="3429000" y="1325880"/>
            <a:ext cx="2468880" cy="1600200"/>
          </a:xfrm>
          <a:prstGeom prst="rect">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8" name="user_workouts header"/>
          <p:cNvSpPr/>
          <p:nvPr/>
        </p:nvSpPr>
        <p:spPr>
          <a:xfrm>
            <a:off x="3429000" y="1325880"/>
            <a:ext cx="2468880" cy="384048"/>
          </a:xfrm>
          <a:prstGeom prst="rect">
            <a:avLst/>
          </a:prstGeom>
          <a:solidFill>
            <a:schemeClr val="accent1"/>
          </a:solidFill>
          <a:ln w="12700">
            <a:solidFill>
              <a:schemeClr val="accent1"/>
            </a:solidFill>
            <a:prstDash val="solid"/>
          </a:ln>
        </p:spPr>
      </p:sp>
      <p:sp>
        <p:nvSpPr>
          <p:cNvPr id="9" name="user_workouts name"/>
          <p:cNvSpPr txBox="1"/>
          <p:nvPr/>
        </p:nvSpPr>
        <p:spPr>
          <a:xfrm>
            <a:off x="3538728" y="1325880"/>
            <a:ext cx="2249424" cy="384048"/>
          </a:xfrm>
          <a:prstGeom prst="rect">
            <a:avLst/>
          </a:prstGeom>
          <a:noFill/>
          <a:ln/>
        </p:spPr>
        <p:txBody>
          <a:bodyPr wrap="square" lIns="0" tIns="0" rIns="0" bIns="0" rtlCol="0" anchor="ctr"/>
          <a:lstStyle/>
          <a:p>
            <a:pPr indent="0" marL="0">
              <a:buNone/>
            </a:pPr>
            <a:r>
              <a:rPr lang="en-US" sz="1300" b="1" dirty="0">
                <a:solidFill>
                  <a:schemeClr val="bg1"/>
                </a:solidFill>
              </a:rPr>
              <a:t>user_workouts</a:t>
            </a:r>
            <a:endParaRPr lang="en-US" sz="1300" dirty="0"/>
          </a:p>
        </p:txBody>
      </p:sp>
      <p:sp>
        <p:nvSpPr>
          <p:cNvPr id="10" name="user_workouts columns"/>
          <p:cNvSpPr txBox="1"/>
          <p:nvPr/>
        </p:nvSpPr>
        <p:spPr>
          <a:xfrm>
            <a:off x="3538728" y="1783080"/>
            <a:ext cx="2249424" cy="1069848"/>
          </a:xfrm>
          <a:prstGeom prst="rect">
            <a:avLst/>
          </a:prstGeom>
          <a:noFill/>
          <a:ln/>
        </p:spPr>
        <p:txBody>
          <a:bodyPr wrap="square" lIns="0" tIns="0" rIns="0" bIns="0" rtlCol="0" anchor="t"/>
          <a:lstStyle/>
          <a:p>
            <a:pPr indent="0" marL="0">
              <a:spcAft>
                <a:spcPts val="200"/>
              </a:spcAft>
              <a:buNone/>
            </a:pPr>
            <a:r>
              <a:rPr lang="en-US" sz="1100" dirty="0">
                <a:solidFill>
                  <a:schemeClr val="tx1"/>
                </a:solidFill>
              </a:rPr>
              <a:t>id  (PK)</a:t>
            </a:r>
            <a:endParaRPr lang="en-US" sz="1100" dirty="0"/>
          </a:p>
          <a:p>
            <a:pPr indent="0" marL="0">
              <a:spcAft>
                <a:spcPts val="200"/>
              </a:spcAft>
              <a:buNone/>
            </a:pPr>
            <a:r>
              <a:rPr lang="en-US" sz="1100" dirty="0">
                <a:solidFill>
                  <a:schemeClr val="tx1"/>
                </a:solidFill>
              </a:rPr>
              <a:t>user_id  → auth.users</a:t>
            </a:r>
            <a:endParaRPr lang="en-US" sz="1100" dirty="0"/>
          </a:p>
          <a:p>
            <a:pPr indent="0" marL="0">
              <a:spcAft>
                <a:spcPts val="200"/>
              </a:spcAft>
              <a:buNone/>
            </a:pPr>
            <a:r>
              <a:rPr lang="en-US" sz="1100" dirty="0">
                <a:solidFill>
                  <a:schemeClr val="tx1"/>
                </a:solidFill>
              </a:rPr>
              <a:t>scheduled_date</a:t>
            </a:r>
            <a:endParaRPr lang="en-US" sz="1100" dirty="0"/>
          </a:p>
          <a:p>
            <a:pPr indent="0" marL="0">
              <a:spcAft>
                <a:spcPts val="200"/>
              </a:spcAft>
              <a:buNone/>
            </a:pPr>
            <a:r>
              <a:rPr lang="en-US" sz="1100" dirty="0">
                <a:solidFill>
                  <a:schemeClr val="tx1"/>
                </a:solidFill>
              </a:rPr>
              <a:t>goal · week_index · plan_variation</a:t>
            </a:r>
            <a:endParaRPr lang="en-US" sz="1100" dirty="0"/>
          </a:p>
        </p:txBody>
      </p:sp>
      <p:sp>
        <p:nvSpPr>
          <p:cNvPr id="11" name="rec_center_equipment table"/>
          <p:cNvSpPr/>
          <p:nvPr/>
        </p:nvSpPr>
        <p:spPr>
          <a:xfrm>
            <a:off x="6309360" y="1325880"/>
            <a:ext cx="2468880" cy="1783080"/>
          </a:xfrm>
          <a:prstGeom prst="rect">
            <a:avLst/>
          </a:prstGeom>
          <a:solidFill>
            <a:schemeClr val="bg1"/>
          </a:solidFill>
          <a:ln w="19050">
            <a:solidFill>
              <a:schemeClr val="accent2"/>
            </a:solidFill>
            <a:prstDash val="solid"/>
          </a:ln>
          <a:effectLst>
            <a:outerShdw sx="100000" sy="100000" kx="0" ky="0" algn="bl" rotWithShape="0" blurRad="76200" dist="25400" dir="5400000">
              <a:srgbClr val="000000">
                <a:alpha val="18000"/>
              </a:srgbClr>
            </a:outerShdw>
          </a:effectLst>
        </p:spPr>
      </p:sp>
      <p:sp>
        <p:nvSpPr>
          <p:cNvPr id="12" name="rec_center_equipment header"/>
          <p:cNvSpPr/>
          <p:nvPr/>
        </p:nvSpPr>
        <p:spPr>
          <a:xfrm>
            <a:off x="6309360" y="1325880"/>
            <a:ext cx="2468880" cy="384048"/>
          </a:xfrm>
          <a:prstGeom prst="rect">
            <a:avLst/>
          </a:prstGeom>
          <a:solidFill>
            <a:schemeClr val="accent2"/>
          </a:solidFill>
          <a:ln w="12700">
            <a:solidFill>
              <a:schemeClr val="accent2"/>
            </a:solidFill>
            <a:prstDash val="solid"/>
          </a:ln>
        </p:spPr>
      </p:sp>
      <p:sp>
        <p:nvSpPr>
          <p:cNvPr id="13" name="rec_center_equipment name"/>
          <p:cNvSpPr txBox="1"/>
          <p:nvPr/>
        </p:nvSpPr>
        <p:spPr>
          <a:xfrm>
            <a:off x="6419088" y="1325880"/>
            <a:ext cx="2249424" cy="384048"/>
          </a:xfrm>
          <a:prstGeom prst="rect">
            <a:avLst/>
          </a:prstGeom>
          <a:noFill/>
          <a:ln/>
        </p:spPr>
        <p:txBody>
          <a:bodyPr wrap="square" lIns="0" tIns="0" rIns="0" bIns="0" rtlCol="0" anchor="ctr"/>
          <a:lstStyle/>
          <a:p>
            <a:pPr indent="0" marL="0">
              <a:buNone/>
            </a:pPr>
            <a:r>
              <a:rPr lang="en-US" sz="1300" b="1" dirty="0">
                <a:solidFill>
                  <a:schemeClr val="tx2"/>
                </a:solidFill>
              </a:rPr>
              <a:t>rec_center_equipment</a:t>
            </a:r>
            <a:endParaRPr lang="en-US" sz="1300" dirty="0"/>
          </a:p>
        </p:txBody>
      </p:sp>
      <p:sp>
        <p:nvSpPr>
          <p:cNvPr id="14" name="rec_center_equipment columns"/>
          <p:cNvSpPr txBox="1"/>
          <p:nvPr/>
        </p:nvSpPr>
        <p:spPr>
          <a:xfrm>
            <a:off x="6419088" y="1783080"/>
            <a:ext cx="2249424" cy="1252728"/>
          </a:xfrm>
          <a:prstGeom prst="rect">
            <a:avLst/>
          </a:prstGeom>
          <a:noFill/>
          <a:ln/>
        </p:spPr>
        <p:txBody>
          <a:bodyPr wrap="square" lIns="0" tIns="0" rIns="0" bIns="0" rtlCol="0" anchor="t"/>
          <a:lstStyle/>
          <a:p>
            <a:pPr indent="0" marL="0">
              <a:spcAft>
                <a:spcPts val="200"/>
              </a:spcAft>
              <a:buNone/>
            </a:pPr>
            <a:r>
              <a:rPr lang="en-US" sz="1100" dirty="0">
                <a:solidFill>
                  <a:schemeClr val="tx1"/>
                </a:solidFill>
              </a:rPr>
              <a:t>equipment_type  (unique key)</a:t>
            </a:r>
            <a:endParaRPr lang="en-US" sz="1100" dirty="0"/>
          </a:p>
          <a:p>
            <a:pPr indent="0" marL="0">
              <a:spcAft>
                <a:spcPts val="200"/>
              </a:spcAft>
              <a:buNone/>
            </a:pPr>
            <a:r>
              <a:rPr lang="en-US" sz="1100" dirty="0">
                <a:solidFill>
                  <a:schemeClr val="tx1"/>
                </a:solidFill>
              </a:rPr>
              <a:t>label · quantity</a:t>
            </a:r>
            <a:endParaRPr lang="en-US" sz="1100" dirty="0"/>
          </a:p>
          <a:p>
            <a:pPr indent="0" marL="0">
              <a:spcAft>
                <a:spcPts val="200"/>
              </a:spcAft>
              <a:buNone/>
            </a:pPr>
            <a:r>
              <a:rPr lang="en-US" sz="1100" dirty="0">
                <a:solidFill>
                  <a:schemeClr val="tx1"/>
                </a:solidFill>
              </a:rPr>
              <a:t>availability_status</a:t>
            </a:r>
            <a:endParaRPr lang="en-US" sz="1100" dirty="0"/>
          </a:p>
          <a:p>
            <a:pPr indent="0" marL="0">
              <a:spcAft>
                <a:spcPts val="200"/>
              </a:spcAft>
              <a:buNone/>
            </a:pPr>
            <a:r>
              <a:rPr lang="en-US" sz="1100" dirty="0">
                <a:solidFill>
                  <a:schemeClr val="tx1"/>
                </a:solidFill>
              </a:rPr>
              <a:t>is_verified</a:t>
            </a:r>
            <a:endParaRPr lang="en-US" sz="1100" dirty="0"/>
          </a:p>
          <a:p>
            <a:pPr indent="0" marL="0">
              <a:spcAft>
                <a:spcPts val="200"/>
              </a:spcAft>
              <a:buNone/>
            </a:pPr>
            <a:r>
              <a:rPr lang="en-US" sz="1100" dirty="0">
                <a:solidFill>
                  <a:schemeClr val="tx1"/>
                </a:solidFill>
              </a:rPr>
              <a:t>load_increments_lb[ ]</a:t>
            </a:r>
            <a:endParaRPr lang="en-US" sz="1100" dirty="0"/>
          </a:p>
        </p:txBody>
      </p:sp>
      <p:sp>
        <p:nvSpPr>
          <p:cNvPr id="15" name="user_health_metrics table"/>
          <p:cNvSpPr/>
          <p:nvPr/>
        </p:nvSpPr>
        <p:spPr>
          <a:xfrm>
            <a:off x="9189720" y="1325880"/>
            <a:ext cx="2468880" cy="1600200"/>
          </a:xfrm>
          <a:prstGeom prst="rect">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16" name="user_health_metrics header"/>
          <p:cNvSpPr/>
          <p:nvPr/>
        </p:nvSpPr>
        <p:spPr>
          <a:xfrm>
            <a:off x="9189720" y="1325880"/>
            <a:ext cx="2468880" cy="384048"/>
          </a:xfrm>
          <a:prstGeom prst="rect">
            <a:avLst/>
          </a:prstGeom>
          <a:solidFill>
            <a:schemeClr val="accent1"/>
          </a:solidFill>
          <a:ln w="12700">
            <a:solidFill>
              <a:schemeClr val="accent1"/>
            </a:solidFill>
            <a:prstDash val="solid"/>
          </a:ln>
        </p:spPr>
      </p:sp>
      <p:sp>
        <p:nvSpPr>
          <p:cNvPr id="17" name="user_health_metrics name"/>
          <p:cNvSpPr txBox="1"/>
          <p:nvPr/>
        </p:nvSpPr>
        <p:spPr>
          <a:xfrm>
            <a:off x="9299448" y="1325880"/>
            <a:ext cx="2249424" cy="384048"/>
          </a:xfrm>
          <a:prstGeom prst="rect">
            <a:avLst/>
          </a:prstGeom>
          <a:noFill/>
          <a:ln/>
        </p:spPr>
        <p:txBody>
          <a:bodyPr wrap="square" lIns="0" tIns="0" rIns="0" bIns="0" rtlCol="0" anchor="ctr"/>
          <a:lstStyle/>
          <a:p>
            <a:pPr indent="0" marL="0">
              <a:buNone/>
            </a:pPr>
            <a:r>
              <a:rPr lang="en-US" sz="1300" b="1" dirty="0">
                <a:solidFill>
                  <a:schemeClr val="bg1"/>
                </a:solidFill>
              </a:rPr>
              <a:t>user_health_metrics</a:t>
            </a:r>
            <a:endParaRPr lang="en-US" sz="1300" dirty="0"/>
          </a:p>
        </p:txBody>
      </p:sp>
      <p:sp>
        <p:nvSpPr>
          <p:cNvPr id="18" name="user_health_metrics columns"/>
          <p:cNvSpPr txBox="1"/>
          <p:nvPr/>
        </p:nvSpPr>
        <p:spPr>
          <a:xfrm>
            <a:off x="9299448" y="1783080"/>
            <a:ext cx="2249424" cy="1069848"/>
          </a:xfrm>
          <a:prstGeom prst="rect">
            <a:avLst/>
          </a:prstGeom>
          <a:noFill/>
          <a:ln/>
        </p:spPr>
        <p:txBody>
          <a:bodyPr wrap="square" lIns="0" tIns="0" rIns="0" bIns="0" rtlCol="0" anchor="t"/>
          <a:lstStyle/>
          <a:p>
            <a:pPr indent="0" marL="0">
              <a:spcAft>
                <a:spcPts val="200"/>
              </a:spcAft>
              <a:buNone/>
            </a:pPr>
            <a:r>
              <a:rPr lang="en-US" sz="1100" dirty="0">
                <a:solidFill>
                  <a:schemeClr val="tx1"/>
                </a:solidFill>
              </a:rPr>
              <a:t>id  (PK)</a:t>
            </a:r>
            <a:endParaRPr lang="en-US" sz="1100" dirty="0"/>
          </a:p>
          <a:p>
            <a:pPr indent="0" marL="0">
              <a:spcAft>
                <a:spcPts val="200"/>
              </a:spcAft>
              <a:buNone/>
            </a:pPr>
            <a:r>
              <a:rPr lang="en-US" sz="1100" dirty="0">
                <a:solidFill>
                  <a:schemeClr val="tx1"/>
                </a:solidFill>
              </a:rPr>
              <a:t>user_id  → auth.users</a:t>
            </a:r>
            <a:endParaRPr lang="en-US" sz="1100" dirty="0"/>
          </a:p>
          <a:p>
            <a:pPr indent="0" marL="0">
              <a:spcAft>
                <a:spcPts val="200"/>
              </a:spcAft>
              <a:buNone/>
            </a:pPr>
            <a:r>
              <a:rPr lang="en-US" sz="1100" dirty="0">
                <a:solidFill>
                  <a:schemeClr val="tx1"/>
                </a:solidFill>
              </a:rPr>
              <a:t>day · steps · heart rate</a:t>
            </a:r>
            <a:endParaRPr lang="en-US" sz="1100" dirty="0"/>
          </a:p>
          <a:p>
            <a:pPr indent="0" marL="0">
              <a:spcAft>
                <a:spcPts val="200"/>
              </a:spcAft>
              <a:buNone/>
            </a:pPr>
            <a:r>
              <a:rPr lang="en-US" sz="1100" dirty="0">
                <a:solidFill>
                  <a:schemeClr val="tx1"/>
                </a:solidFill>
              </a:rPr>
              <a:t>source: manual / fitbit</a:t>
            </a:r>
            <a:endParaRPr lang="en-US" sz="1100" dirty="0"/>
          </a:p>
        </p:txBody>
      </p:sp>
      <p:sp>
        <p:nvSpPr>
          <p:cNvPr id="19" name="profiles table"/>
          <p:cNvSpPr/>
          <p:nvPr/>
        </p:nvSpPr>
        <p:spPr>
          <a:xfrm>
            <a:off x="548640" y="3611880"/>
            <a:ext cx="2468880" cy="2103120"/>
          </a:xfrm>
          <a:prstGeom prst="rect">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20" name="profiles header"/>
          <p:cNvSpPr/>
          <p:nvPr/>
        </p:nvSpPr>
        <p:spPr>
          <a:xfrm>
            <a:off x="548640" y="3611880"/>
            <a:ext cx="2468880" cy="384048"/>
          </a:xfrm>
          <a:prstGeom prst="rect">
            <a:avLst/>
          </a:prstGeom>
          <a:solidFill>
            <a:schemeClr val="accent1"/>
          </a:solidFill>
          <a:ln w="12700">
            <a:solidFill>
              <a:schemeClr val="accent1"/>
            </a:solidFill>
            <a:prstDash val="solid"/>
          </a:ln>
        </p:spPr>
      </p:sp>
      <p:sp>
        <p:nvSpPr>
          <p:cNvPr id="21" name="profiles name"/>
          <p:cNvSpPr txBox="1"/>
          <p:nvPr/>
        </p:nvSpPr>
        <p:spPr>
          <a:xfrm>
            <a:off x="658368" y="3611880"/>
            <a:ext cx="2249424" cy="384048"/>
          </a:xfrm>
          <a:prstGeom prst="rect">
            <a:avLst/>
          </a:prstGeom>
          <a:noFill/>
          <a:ln/>
        </p:spPr>
        <p:txBody>
          <a:bodyPr wrap="square" lIns="0" tIns="0" rIns="0" bIns="0" rtlCol="0" anchor="ctr"/>
          <a:lstStyle/>
          <a:p>
            <a:pPr indent="0" marL="0">
              <a:buNone/>
            </a:pPr>
            <a:r>
              <a:rPr lang="en-US" sz="1300" b="1" dirty="0">
                <a:solidFill>
                  <a:schemeClr val="bg1"/>
                </a:solidFill>
              </a:rPr>
              <a:t>profiles</a:t>
            </a:r>
            <a:endParaRPr lang="en-US" sz="1300" dirty="0"/>
          </a:p>
        </p:txBody>
      </p:sp>
      <p:sp>
        <p:nvSpPr>
          <p:cNvPr id="22" name="profiles columns"/>
          <p:cNvSpPr txBox="1"/>
          <p:nvPr/>
        </p:nvSpPr>
        <p:spPr>
          <a:xfrm>
            <a:off x="658368" y="4069080"/>
            <a:ext cx="2249424" cy="1572768"/>
          </a:xfrm>
          <a:prstGeom prst="rect">
            <a:avLst/>
          </a:prstGeom>
          <a:noFill/>
          <a:ln/>
        </p:spPr>
        <p:txBody>
          <a:bodyPr wrap="square" lIns="0" tIns="0" rIns="0" bIns="0" rtlCol="0" anchor="t"/>
          <a:lstStyle/>
          <a:p>
            <a:pPr indent="0" marL="0">
              <a:spcAft>
                <a:spcPts val="200"/>
              </a:spcAft>
              <a:buNone/>
            </a:pPr>
            <a:r>
              <a:rPr lang="en-US" sz="1100" dirty="0">
                <a:solidFill>
                  <a:schemeClr val="tx1"/>
                </a:solidFill>
              </a:rPr>
              <a:t>id  (PK, = auth.users.id)</a:t>
            </a:r>
            <a:endParaRPr lang="en-US" sz="1100" dirty="0"/>
          </a:p>
          <a:p>
            <a:pPr indent="0" marL="0">
              <a:spcAft>
                <a:spcPts val="200"/>
              </a:spcAft>
              <a:buNone/>
            </a:pPr>
            <a:r>
              <a:rPr lang="en-US" sz="1100" dirty="0">
                <a:solidFill>
                  <a:schemeClr val="tx1"/>
                </a:solidFill>
              </a:rPr>
              <a:t>display_name</a:t>
            </a:r>
            <a:endParaRPr lang="en-US" sz="1100" dirty="0"/>
          </a:p>
          <a:p>
            <a:pPr indent="0" marL="0">
              <a:spcAft>
                <a:spcPts val="200"/>
              </a:spcAft>
              <a:buNone/>
            </a:pPr>
            <a:r>
              <a:rPr lang="en-US" sz="1100" dirty="0">
                <a:solidFill>
                  <a:schemeClr val="tx1"/>
                </a:solidFill>
              </a:rPr>
              <a:t>role: member | admin</a:t>
            </a:r>
            <a:endParaRPr lang="en-US" sz="1100" dirty="0"/>
          </a:p>
          <a:p>
            <a:pPr indent="0" marL="0">
              <a:spcAft>
                <a:spcPts val="200"/>
              </a:spcAft>
              <a:buNone/>
            </a:pPr>
            <a:r>
              <a:rPr lang="en-US" sz="1100" dirty="0">
                <a:solidFill>
                  <a:schemeClr val="tx1"/>
                </a:solidFill>
              </a:rPr>
              <a:t>unit_preference (lb/kg)</a:t>
            </a:r>
            <a:endParaRPr lang="en-US" sz="1100" dirty="0"/>
          </a:p>
          <a:p>
            <a:pPr indent="0" marL="0">
              <a:spcAft>
                <a:spcPts val="200"/>
              </a:spcAft>
              <a:buNone/>
            </a:pPr>
            <a:r>
              <a:rPr lang="en-US" sz="1100" dirty="0">
                <a:solidFill>
                  <a:schemeClr val="tx1"/>
                </a:solidFill>
              </a:rPr>
              <a:t>effort_preference (RPE/RIR)</a:t>
            </a:r>
            <a:endParaRPr lang="en-US" sz="1100" dirty="0"/>
          </a:p>
          <a:p>
            <a:pPr indent="0" marL="0">
              <a:spcAft>
                <a:spcPts val="200"/>
              </a:spcAft>
              <a:buNone/>
            </a:pPr>
            <a:r>
              <a:rPr lang="en-US" sz="1100" dirty="0">
                <a:solidFill>
                  <a:schemeClr val="tx1"/>
                </a:solidFill>
              </a:rPr>
              <a:t>goal · days_per_week</a:t>
            </a:r>
            <a:endParaRPr lang="en-US" sz="1100" dirty="0"/>
          </a:p>
        </p:txBody>
      </p:sp>
      <p:sp>
        <p:nvSpPr>
          <p:cNvPr id="23" name="workout_logs table"/>
          <p:cNvSpPr/>
          <p:nvPr/>
        </p:nvSpPr>
        <p:spPr>
          <a:xfrm>
            <a:off x="3429000" y="3611880"/>
            <a:ext cx="2468880" cy="2331720"/>
          </a:xfrm>
          <a:prstGeom prst="rect">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24" name="workout_logs header"/>
          <p:cNvSpPr/>
          <p:nvPr/>
        </p:nvSpPr>
        <p:spPr>
          <a:xfrm>
            <a:off x="3429000" y="3611880"/>
            <a:ext cx="2468880" cy="384048"/>
          </a:xfrm>
          <a:prstGeom prst="rect">
            <a:avLst/>
          </a:prstGeom>
          <a:solidFill>
            <a:schemeClr val="accent1"/>
          </a:solidFill>
          <a:ln w="12700">
            <a:solidFill>
              <a:schemeClr val="accent1"/>
            </a:solidFill>
            <a:prstDash val="solid"/>
          </a:ln>
        </p:spPr>
      </p:sp>
      <p:sp>
        <p:nvSpPr>
          <p:cNvPr id="25" name="workout_logs name"/>
          <p:cNvSpPr txBox="1"/>
          <p:nvPr/>
        </p:nvSpPr>
        <p:spPr>
          <a:xfrm>
            <a:off x="3538728" y="3611880"/>
            <a:ext cx="2249424" cy="384048"/>
          </a:xfrm>
          <a:prstGeom prst="rect">
            <a:avLst/>
          </a:prstGeom>
          <a:noFill/>
          <a:ln/>
        </p:spPr>
        <p:txBody>
          <a:bodyPr wrap="square" lIns="0" tIns="0" rIns="0" bIns="0" rtlCol="0" anchor="ctr"/>
          <a:lstStyle/>
          <a:p>
            <a:pPr indent="0" marL="0">
              <a:buNone/>
            </a:pPr>
            <a:r>
              <a:rPr lang="en-US" sz="1300" b="1" dirty="0">
                <a:solidFill>
                  <a:schemeClr val="bg1"/>
                </a:solidFill>
              </a:rPr>
              <a:t>workout_logs</a:t>
            </a:r>
            <a:endParaRPr lang="en-US" sz="1300" dirty="0"/>
          </a:p>
        </p:txBody>
      </p:sp>
      <p:sp>
        <p:nvSpPr>
          <p:cNvPr id="26" name="workout_logs columns"/>
          <p:cNvSpPr txBox="1"/>
          <p:nvPr/>
        </p:nvSpPr>
        <p:spPr>
          <a:xfrm>
            <a:off x="3538728" y="4069080"/>
            <a:ext cx="2249424" cy="1801368"/>
          </a:xfrm>
          <a:prstGeom prst="rect">
            <a:avLst/>
          </a:prstGeom>
          <a:noFill/>
          <a:ln/>
        </p:spPr>
        <p:txBody>
          <a:bodyPr wrap="square" lIns="0" tIns="0" rIns="0" bIns="0" rtlCol="0" anchor="t"/>
          <a:lstStyle/>
          <a:p>
            <a:pPr indent="0" marL="0">
              <a:spcAft>
                <a:spcPts val="200"/>
              </a:spcAft>
              <a:buNone/>
            </a:pPr>
            <a:r>
              <a:rPr lang="en-US" sz="1100" dirty="0">
                <a:solidFill>
                  <a:schemeClr val="tx1"/>
                </a:solidFill>
              </a:rPr>
              <a:t>id  (PK)  ·  one row per set</a:t>
            </a:r>
            <a:endParaRPr lang="en-US" sz="1100" dirty="0"/>
          </a:p>
          <a:p>
            <a:pPr indent="0" marL="0">
              <a:spcAft>
                <a:spcPts val="200"/>
              </a:spcAft>
              <a:buNone/>
            </a:pPr>
            <a:r>
              <a:rPr lang="en-US" sz="1100" dirty="0">
                <a:solidFill>
                  <a:schemeClr val="tx1"/>
                </a:solidFill>
              </a:rPr>
              <a:t>workout_id  → user_workouts</a:t>
            </a:r>
            <a:endParaRPr lang="en-US" sz="1100" dirty="0"/>
          </a:p>
          <a:p>
            <a:pPr indent="0" marL="0">
              <a:spcAft>
                <a:spcPts val="200"/>
              </a:spcAft>
              <a:buNone/>
            </a:pPr>
            <a:r>
              <a:rPr lang="en-US" sz="1100" dirty="0">
                <a:solidFill>
                  <a:schemeClr val="tx1"/>
                </a:solidFill>
              </a:rPr>
              <a:t>exercise_id  → exercises</a:t>
            </a:r>
            <a:endParaRPr lang="en-US" sz="1100" dirty="0"/>
          </a:p>
          <a:p>
            <a:pPr indent="0" marL="0">
              <a:spcAft>
                <a:spcPts val="200"/>
              </a:spcAft>
              <a:buNone/>
            </a:pPr>
            <a:r>
              <a:rPr lang="en-US" sz="1100" dirty="0">
                <a:solidFill>
                  <a:schemeClr val="tx1"/>
                </a:solidFill>
              </a:rPr>
              <a:t>set_index · set_type</a:t>
            </a:r>
            <a:endParaRPr lang="en-US" sz="1100" dirty="0"/>
          </a:p>
          <a:p>
            <a:pPr indent="0" marL="0">
              <a:spcAft>
                <a:spcPts val="200"/>
              </a:spcAft>
              <a:buNone/>
            </a:pPr>
            <a:r>
              <a:rPr lang="en-US" sz="1100" dirty="0">
                <a:solidFill>
                  <a:schemeClr val="tx1"/>
                </a:solidFill>
              </a:rPr>
              <a:t>weight + unit  (weight_lb generated)</a:t>
            </a:r>
            <a:endParaRPr lang="en-US" sz="1100" dirty="0"/>
          </a:p>
          <a:p>
            <a:pPr indent="0" marL="0">
              <a:spcAft>
                <a:spcPts val="200"/>
              </a:spcAft>
              <a:buNone/>
            </a:pPr>
            <a:r>
              <a:rPr lang="en-US" sz="1100" dirty="0">
                <a:solidFill>
                  <a:schemeClr val="tx1"/>
                </a:solidFill>
              </a:rPr>
              <a:t>reps · rpe · rir</a:t>
            </a:r>
            <a:endParaRPr lang="en-US" sz="1100" dirty="0"/>
          </a:p>
          <a:p>
            <a:pPr indent="0" marL="0">
              <a:spcAft>
                <a:spcPts val="200"/>
              </a:spcAft>
              <a:buNone/>
            </a:pPr>
            <a:r>
              <a:rPr lang="en-US" sz="1100" dirty="0">
                <a:solidFill>
                  <a:schemeClr val="tx1"/>
                </a:solidFill>
              </a:rPr>
              <a:t>client_uuid  (offline retry key)</a:t>
            </a:r>
            <a:endParaRPr lang="en-US" sz="1100" dirty="0"/>
          </a:p>
        </p:txBody>
      </p:sp>
      <p:sp>
        <p:nvSpPr>
          <p:cNvPr id="27" name="exercises table"/>
          <p:cNvSpPr/>
          <p:nvPr/>
        </p:nvSpPr>
        <p:spPr>
          <a:xfrm>
            <a:off x="6309360" y="3611880"/>
            <a:ext cx="2468880" cy="2103120"/>
          </a:xfrm>
          <a:prstGeom prst="rect">
            <a:avLst/>
          </a:prstGeom>
          <a:solidFill>
            <a:schemeClr val="bg1"/>
          </a:solidFill>
          <a:ln w="19050">
            <a:solidFill>
              <a:schemeClr val="accent2"/>
            </a:solidFill>
            <a:prstDash val="solid"/>
          </a:ln>
          <a:effectLst>
            <a:outerShdw sx="100000" sy="100000" kx="0" ky="0" algn="bl" rotWithShape="0" blurRad="76200" dist="25400" dir="5400000">
              <a:srgbClr val="000000">
                <a:alpha val="18000"/>
              </a:srgbClr>
            </a:outerShdw>
          </a:effectLst>
        </p:spPr>
      </p:sp>
      <p:sp>
        <p:nvSpPr>
          <p:cNvPr id="28" name="exercises header"/>
          <p:cNvSpPr/>
          <p:nvPr/>
        </p:nvSpPr>
        <p:spPr>
          <a:xfrm>
            <a:off x="6309360" y="3611880"/>
            <a:ext cx="2468880" cy="384048"/>
          </a:xfrm>
          <a:prstGeom prst="rect">
            <a:avLst/>
          </a:prstGeom>
          <a:solidFill>
            <a:schemeClr val="accent2"/>
          </a:solidFill>
          <a:ln w="12700">
            <a:solidFill>
              <a:schemeClr val="accent2"/>
            </a:solidFill>
            <a:prstDash val="solid"/>
          </a:ln>
        </p:spPr>
      </p:sp>
      <p:sp>
        <p:nvSpPr>
          <p:cNvPr id="29" name="exercises name"/>
          <p:cNvSpPr txBox="1"/>
          <p:nvPr/>
        </p:nvSpPr>
        <p:spPr>
          <a:xfrm>
            <a:off x="6419088" y="3611880"/>
            <a:ext cx="2249424" cy="384048"/>
          </a:xfrm>
          <a:prstGeom prst="rect">
            <a:avLst/>
          </a:prstGeom>
          <a:noFill/>
          <a:ln/>
        </p:spPr>
        <p:txBody>
          <a:bodyPr wrap="square" lIns="0" tIns="0" rIns="0" bIns="0" rtlCol="0" anchor="ctr"/>
          <a:lstStyle/>
          <a:p>
            <a:pPr indent="0" marL="0">
              <a:buNone/>
            </a:pPr>
            <a:r>
              <a:rPr lang="en-US" sz="1300" b="1" dirty="0">
                <a:solidFill>
                  <a:schemeClr val="tx2"/>
                </a:solidFill>
              </a:rPr>
              <a:t>exercises</a:t>
            </a:r>
            <a:endParaRPr lang="en-US" sz="1300" dirty="0"/>
          </a:p>
        </p:txBody>
      </p:sp>
      <p:sp>
        <p:nvSpPr>
          <p:cNvPr id="30" name="exercises columns"/>
          <p:cNvSpPr txBox="1"/>
          <p:nvPr/>
        </p:nvSpPr>
        <p:spPr>
          <a:xfrm>
            <a:off x="6419088" y="4069080"/>
            <a:ext cx="2249424" cy="1572768"/>
          </a:xfrm>
          <a:prstGeom prst="rect">
            <a:avLst/>
          </a:prstGeom>
          <a:noFill/>
          <a:ln/>
        </p:spPr>
        <p:txBody>
          <a:bodyPr wrap="square" lIns="0" tIns="0" rIns="0" bIns="0" rtlCol="0" anchor="t"/>
          <a:lstStyle/>
          <a:p>
            <a:pPr indent="0" marL="0">
              <a:spcAft>
                <a:spcPts val="200"/>
              </a:spcAft>
              <a:buNone/>
            </a:pPr>
            <a:r>
              <a:rPr lang="en-US" sz="1100" dirty="0">
                <a:solidFill>
                  <a:schemeClr val="tx1"/>
                </a:solidFill>
              </a:rPr>
              <a:t>id  (PK) · slug · name</a:t>
            </a:r>
            <a:endParaRPr lang="en-US" sz="1100" dirty="0"/>
          </a:p>
          <a:p>
            <a:pPr indent="0" marL="0">
              <a:spcAft>
                <a:spcPts val="200"/>
              </a:spcAft>
              <a:buNone/>
            </a:pPr>
            <a:r>
              <a:rPr lang="en-US" sz="1100" dirty="0">
                <a:solidFill>
                  <a:schemeClr val="tx1"/>
                </a:solidFill>
              </a:rPr>
              <a:t>primary_muscle_groups[ ]</a:t>
            </a:r>
            <a:endParaRPr lang="en-US" sz="1100" dirty="0"/>
          </a:p>
          <a:p>
            <a:pPr indent="0" marL="0">
              <a:spcAft>
                <a:spcPts val="200"/>
              </a:spcAft>
              <a:buNone/>
            </a:pPr>
            <a:r>
              <a:rPr lang="en-US" sz="1100" dirty="0">
                <a:solidFill>
                  <a:schemeClr val="tx1"/>
                </a:solidFill>
              </a:rPr>
              <a:t>secondary_muscle_groups[ ]</a:t>
            </a:r>
            <a:endParaRPr lang="en-US" sz="1100" dirty="0"/>
          </a:p>
          <a:p>
            <a:pPr indent="0" marL="0">
              <a:spcAft>
                <a:spcPts val="200"/>
              </a:spcAft>
              <a:buNone/>
            </a:pPr>
            <a:r>
              <a:rPr lang="en-US" sz="1100" dirty="0">
                <a:solidFill>
                  <a:schemeClr val="tx1"/>
                </a:solidFill>
              </a:rPr>
              <a:t>required_equipment[ ]</a:t>
            </a:r>
            <a:endParaRPr lang="en-US" sz="1100" dirty="0"/>
          </a:p>
          <a:p>
            <a:pPr indent="0" marL="0">
              <a:spcAft>
                <a:spcPts val="200"/>
              </a:spcAft>
              <a:buNone/>
            </a:pPr>
            <a:r>
              <a:rPr lang="en-US" sz="1100" dirty="0">
                <a:solidFill>
                  <a:schemeClr val="tx1"/>
                </a:solidFill>
              </a:rPr>
              <a:t>movement_pattern · is_active</a:t>
            </a:r>
            <a:endParaRPr lang="en-US" sz="1100" dirty="0"/>
          </a:p>
        </p:txBody>
      </p:sp>
      <p:sp>
        <p:nvSpPr>
          <p:cNvPr id="31" name="muscle_group_intensity table"/>
          <p:cNvSpPr/>
          <p:nvPr/>
        </p:nvSpPr>
        <p:spPr>
          <a:xfrm>
            <a:off x="9189720" y="3611880"/>
            <a:ext cx="2468880" cy="1874520"/>
          </a:xfrm>
          <a:prstGeom prst="rect">
            <a:avLst/>
          </a:prstGeom>
          <a:solidFill>
            <a:schemeClr val="bg1"/>
          </a:solidFill>
          <a:ln w="19050">
            <a:solidFill>
              <a:schemeClr val="accent1"/>
            </a:solidFill>
            <a:prstDash val="solid"/>
          </a:ln>
          <a:effectLst>
            <a:outerShdw sx="100000" sy="100000" kx="0" ky="0" algn="bl" rotWithShape="0" blurRad="76200" dist="25400" dir="5400000">
              <a:srgbClr val="000000">
                <a:alpha val="18000"/>
              </a:srgbClr>
            </a:outerShdw>
          </a:effectLst>
        </p:spPr>
      </p:sp>
      <p:sp>
        <p:nvSpPr>
          <p:cNvPr id="32" name="muscle_group_intensity header"/>
          <p:cNvSpPr/>
          <p:nvPr/>
        </p:nvSpPr>
        <p:spPr>
          <a:xfrm>
            <a:off x="9189720" y="3611880"/>
            <a:ext cx="2468880" cy="384048"/>
          </a:xfrm>
          <a:prstGeom prst="rect">
            <a:avLst/>
          </a:prstGeom>
          <a:solidFill>
            <a:schemeClr val="accent1"/>
          </a:solidFill>
          <a:ln w="12700">
            <a:solidFill>
              <a:schemeClr val="accent1"/>
            </a:solidFill>
            <a:prstDash val="solid"/>
          </a:ln>
        </p:spPr>
      </p:sp>
      <p:sp>
        <p:nvSpPr>
          <p:cNvPr id="33" name="muscle_group_intensity name"/>
          <p:cNvSpPr txBox="1"/>
          <p:nvPr/>
        </p:nvSpPr>
        <p:spPr>
          <a:xfrm>
            <a:off x="9299448" y="3611880"/>
            <a:ext cx="2249424" cy="384048"/>
          </a:xfrm>
          <a:prstGeom prst="rect">
            <a:avLst/>
          </a:prstGeom>
          <a:noFill/>
          <a:ln/>
        </p:spPr>
        <p:txBody>
          <a:bodyPr wrap="square" lIns="0" tIns="0" rIns="0" bIns="0" rtlCol="0" anchor="ctr"/>
          <a:lstStyle/>
          <a:p>
            <a:pPr indent="0" marL="0">
              <a:buNone/>
            </a:pPr>
            <a:r>
              <a:rPr lang="en-US" sz="1300" b="1" dirty="0">
                <a:solidFill>
                  <a:schemeClr val="bg1"/>
                </a:solidFill>
              </a:rPr>
              <a:t>muscle_group_intensity</a:t>
            </a:r>
            <a:endParaRPr lang="en-US" sz="1300" dirty="0"/>
          </a:p>
        </p:txBody>
      </p:sp>
      <p:sp>
        <p:nvSpPr>
          <p:cNvPr id="34" name="muscle_group_intensity columns"/>
          <p:cNvSpPr txBox="1"/>
          <p:nvPr/>
        </p:nvSpPr>
        <p:spPr>
          <a:xfrm>
            <a:off x="9299448" y="4069080"/>
            <a:ext cx="2249424" cy="1344168"/>
          </a:xfrm>
          <a:prstGeom prst="rect">
            <a:avLst/>
          </a:prstGeom>
          <a:noFill/>
          <a:ln/>
        </p:spPr>
        <p:txBody>
          <a:bodyPr wrap="square" lIns="0" tIns="0" rIns="0" bIns="0" rtlCol="0" anchor="t"/>
          <a:lstStyle/>
          <a:p>
            <a:pPr indent="0" marL="0">
              <a:spcAft>
                <a:spcPts val="200"/>
              </a:spcAft>
              <a:buNone/>
            </a:pPr>
            <a:r>
              <a:rPr lang="en-US" sz="1100" dirty="0">
                <a:solidFill>
                  <a:schemeClr val="tx1"/>
                </a:solidFill>
              </a:rPr>
              <a:t>PK (user_id, day, muscle_group)</a:t>
            </a:r>
            <a:endParaRPr lang="en-US" sz="1100" dirty="0"/>
          </a:p>
          <a:p>
            <a:pPr indent="0" marL="0">
              <a:spcAft>
                <a:spcPts val="200"/>
              </a:spcAft>
              <a:buNone/>
            </a:pPr>
            <a:r>
              <a:rPr lang="en-US" sz="1100" dirty="0">
                <a:solidFill>
                  <a:schemeClr val="tx1"/>
                </a:solidFill>
              </a:rPr>
              <a:t>set_count · total_volume</a:t>
            </a:r>
            <a:endParaRPr lang="en-US" sz="1100" dirty="0"/>
          </a:p>
          <a:p>
            <a:pPr indent="0" marL="0">
              <a:spcAft>
                <a:spcPts val="200"/>
              </a:spcAft>
              <a:buNone/>
            </a:pPr>
            <a:r>
              <a:rPr lang="en-US" sz="1100" dirty="0">
                <a:solidFill>
                  <a:schemeClr val="tx1"/>
                </a:solidFill>
              </a:rPr>
              <a:t>normalized_intensity 0–1</a:t>
            </a:r>
            <a:endParaRPr lang="en-US" sz="1100" dirty="0"/>
          </a:p>
          <a:p>
            <a:pPr indent="0" marL="0">
              <a:spcAft>
                <a:spcPts val="200"/>
              </a:spcAft>
              <a:buNone/>
            </a:pPr>
            <a:r>
              <a:rPr lang="en-US" sz="1100" dirty="0">
                <a:solidFill>
                  <a:schemeClr val="tx1"/>
                </a:solidFill>
              </a:rPr>
              <a:t>filled by trigger, read-only</a:t>
            </a:r>
            <a:endParaRPr lang="en-US" sz="1100" dirty="0"/>
          </a:p>
        </p:txBody>
      </p:sp>
      <p:sp>
        <p:nvSpPr>
          <p:cNvPr id="35" name="users to profiles"/>
          <p:cNvSpPr/>
          <p:nvPr/>
        </p:nvSpPr>
        <p:spPr>
          <a:xfrm>
            <a:off x="1783080" y="2926080"/>
            <a:ext cx="0" cy="685800"/>
          </a:xfrm>
          <a:prstGeom prst="line">
            <a:avLst/>
          </a:prstGeom>
          <a:noFill/>
          <a:ln w="22225">
            <a:solidFill>
              <a:schemeClr val="accent6"/>
            </a:solidFill>
            <a:prstDash val="solid"/>
            <a:tailEnd type="triangle"/>
          </a:ln>
        </p:spPr>
      </p:sp>
      <p:sp>
        <p:nvSpPr>
          <p:cNvPr id="36" name="Text 34"/>
          <p:cNvSpPr txBox="1"/>
          <p:nvPr/>
        </p:nvSpPr>
        <p:spPr>
          <a:xfrm>
            <a:off x="1828800" y="3108960"/>
            <a:ext cx="548640" cy="256032"/>
          </a:xfrm>
          <a:prstGeom prst="rect">
            <a:avLst/>
          </a:prstGeom>
          <a:noFill/>
          <a:ln/>
        </p:spPr>
        <p:txBody>
          <a:bodyPr wrap="square" lIns="0" tIns="0" rIns="0" bIns="0" rtlCol="0" anchor="ctr"/>
          <a:lstStyle/>
          <a:p>
            <a:pPr algn="ctr" indent="0" marL="0">
              <a:buNone/>
            </a:pPr>
            <a:r>
              <a:rPr lang="en-US" sz="1000" b="1" dirty="0">
                <a:solidFill>
                  <a:schemeClr val="accent6"/>
                </a:solidFill>
              </a:rPr>
              <a:t>1 : 1</a:t>
            </a:r>
            <a:endParaRPr lang="en-US" sz="1000" dirty="0"/>
          </a:p>
        </p:txBody>
      </p:sp>
      <p:sp>
        <p:nvSpPr>
          <p:cNvPr id="37" name="users to workouts"/>
          <p:cNvSpPr/>
          <p:nvPr/>
        </p:nvSpPr>
        <p:spPr>
          <a:xfrm>
            <a:off x="3017520" y="2103120"/>
            <a:ext cx="411480" cy="0"/>
          </a:xfrm>
          <a:prstGeom prst="line">
            <a:avLst/>
          </a:prstGeom>
          <a:noFill/>
          <a:ln w="22225">
            <a:solidFill>
              <a:schemeClr val="accent6"/>
            </a:solidFill>
            <a:prstDash val="solid"/>
            <a:tailEnd type="triangle"/>
          </a:ln>
        </p:spPr>
      </p:sp>
      <p:sp>
        <p:nvSpPr>
          <p:cNvPr id="38" name="Text 36"/>
          <p:cNvSpPr txBox="1"/>
          <p:nvPr/>
        </p:nvSpPr>
        <p:spPr>
          <a:xfrm>
            <a:off x="2999232" y="1783080"/>
            <a:ext cx="457200" cy="256032"/>
          </a:xfrm>
          <a:prstGeom prst="rect">
            <a:avLst/>
          </a:prstGeom>
          <a:noFill/>
          <a:ln/>
        </p:spPr>
        <p:txBody>
          <a:bodyPr wrap="square" lIns="0" tIns="0" rIns="0" bIns="0" rtlCol="0" anchor="ctr"/>
          <a:lstStyle/>
          <a:p>
            <a:pPr algn="ctr" indent="0" marL="0">
              <a:buNone/>
            </a:pPr>
            <a:r>
              <a:rPr lang="en-US" sz="1000" b="1" dirty="0">
                <a:solidFill>
                  <a:schemeClr val="accent6"/>
                </a:solidFill>
              </a:rPr>
              <a:t>1 : N</a:t>
            </a:r>
            <a:endParaRPr lang="en-US" sz="1000" dirty="0"/>
          </a:p>
        </p:txBody>
      </p:sp>
      <p:sp>
        <p:nvSpPr>
          <p:cNvPr id="39" name="workouts to logs"/>
          <p:cNvSpPr/>
          <p:nvPr/>
        </p:nvSpPr>
        <p:spPr>
          <a:xfrm>
            <a:off x="4663440" y="2926080"/>
            <a:ext cx="0" cy="685800"/>
          </a:xfrm>
          <a:prstGeom prst="line">
            <a:avLst/>
          </a:prstGeom>
          <a:noFill/>
          <a:ln w="22225">
            <a:solidFill>
              <a:schemeClr val="accent6"/>
            </a:solidFill>
            <a:prstDash val="solid"/>
            <a:tailEnd type="triangle"/>
          </a:ln>
        </p:spPr>
      </p:sp>
      <p:sp>
        <p:nvSpPr>
          <p:cNvPr id="40" name="Text 38"/>
          <p:cNvSpPr txBox="1"/>
          <p:nvPr/>
        </p:nvSpPr>
        <p:spPr>
          <a:xfrm>
            <a:off x="4709160" y="3108960"/>
            <a:ext cx="548640" cy="256032"/>
          </a:xfrm>
          <a:prstGeom prst="rect">
            <a:avLst/>
          </a:prstGeom>
          <a:noFill/>
          <a:ln/>
        </p:spPr>
        <p:txBody>
          <a:bodyPr wrap="square" lIns="0" tIns="0" rIns="0" bIns="0" rtlCol="0" anchor="ctr"/>
          <a:lstStyle/>
          <a:p>
            <a:pPr algn="ctr" indent="0" marL="0">
              <a:buNone/>
            </a:pPr>
            <a:r>
              <a:rPr lang="en-US" sz="1000" b="1" dirty="0">
                <a:solidFill>
                  <a:schemeClr val="accent6"/>
                </a:solidFill>
              </a:rPr>
              <a:t>1 : N</a:t>
            </a:r>
            <a:endParaRPr lang="en-US" sz="1000" dirty="0"/>
          </a:p>
        </p:txBody>
      </p:sp>
      <p:sp>
        <p:nvSpPr>
          <p:cNvPr id="41" name="logs to exercises"/>
          <p:cNvSpPr/>
          <p:nvPr/>
        </p:nvSpPr>
        <p:spPr>
          <a:xfrm>
            <a:off x="5897880" y="4526280"/>
            <a:ext cx="411480" cy="0"/>
          </a:xfrm>
          <a:prstGeom prst="line">
            <a:avLst/>
          </a:prstGeom>
          <a:noFill/>
          <a:ln w="22225">
            <a:solidFill>
              <a:schemeClr val="accent6"/>
            </a:solidFill>
            <a:prstDash val="solid"/>
            <a:tailEnd type="triangle"/>
          </a:ln>
        </p:spPr>
      </p:sp>
      <p:sp>
        <p:nvSpPr>
          <p:cNvPr id="42" name="Text 40"/>
          <p:cNvSpPr txBox="1"/>
          <p:nvPr/>
        </p:nvSpPr>
        <p:spPr>
          <a:xfrm>
            <a:off x="5879592" y="4206240"/>
            <a:ext cx="457200" cy="256032"/>
          </a:xfrm>
          <a:prstGeom prst="rect">
            <a:avLst/>
          </a:prstGeom>
          <a:noFill/>
          <a:ln/>
        </p:spPr>
        <p:txBody>
          <a:bodyPr wrap="square" lIns="0" tIns="0" rIns="0" bIns="0" rtlCol="0" anchor="ctr"/>
          <a:lstStyle/>
          <a:p>
            <a:pPr algn="ctr" indent="0" marL="0">
              <a:buNone/>
            </a:pPr>
            <a:r>
              <a:rPr lang="en-US" sz="1000" b="1" dirty="0">
                <a:solidFill>
                  <a:schemeClr val="accent6"/>
                </a:solidFill>
              </a:rPr>
              <a:t>N : 1</a:t>
            </a:r>
            <a:endParaRPr lang="en-US" sz="1000" dirty="0"/>
          </a:p>
        </p:txBody>
      </p:sp>
      <p:sp>
        <p:nvSpPr>
          <p:cNvPr id="43" name="exercises to equipment"/>
          <p:cNvSpPr/>
          <p:nvPr/>
        </p:nvSpPr>
        <p:spPr>
          <a:xfrm>
            <a:off x="7543800" y="3108960"/>
            <a:ext cx="0" cy="502920"/>
          </a:xfrm>
          <a:prstGeom prst="line">
            <a:avLst/>
          </a:prstGeom>
          <a:noFill/>
          <a:ln w="22225">
            <a:solidFill>
              <a:schemeClr val="accent6"/>
            </a:solidFill>
            <a:prstDash val="dash"/>
            <a:headEnd type="triangle"/>
          </a:ln>
        </p:spPr>
      </p:sp>
      <p:sp>
        <p:nvSpPr>
          <p:cNvPr id="44" name="Text 42"/>
          <p:cNvSpPr txBox="1"/>
          <p:nvPr/>
        </p:nvSpPr>
        <p:spPr>
          <a:xfrm>
            <a:off x="7589520" y="3246120"/>
            <a:ext cx="457200" cy="256032"/>
          </a:xfrm>
          <a:prstGeom prst="rect">
            <a:avLst/>
          </a:prstGeom>
          <a:noFill/>
          <a:ln/>
        </p:spPr>
        <p:txBody>
          <a:bodyPr wrap="square" lIns="0" tIns="0" rIns="0" bIns="0" rtlCol="0" anchor="ctr"/>
          <a:lstStyle/>
          <a:p>
            <a:pPr algn="ctr" indent="0" marL="0">
              <a:buNone/>
            </a:pPr>
            <a:r>
              <a:rPr lang="en-US" sz="1000" b="1" dirty="0">
                <a:solidFill>
                  <a:schemeClr val="accent6"/>
                </a:solidFill>
              </a:rPr>
              <a:t>uses</a:t>
            </a:r>
            <a:endParaRPr lang="en-US" sz="1000" dirty="0"/>
          </a:p>
        </p:txBody>
      </p:sp>
      <p:sp>
        <p:nvSpPr>
          <p:cNvPr id="45" name="trigger to rollup"/>
          <p:cNvSpPr/>
          <p:nvPr/>
        </p:nvSpPr>
        <p:spPr>
          <a:xfrm>
            <a:off x="8778240" y="4526280"/>
            <a:ext cx="411480" cy="0"/>
          </a:xfrm>
          <a:prstGeom prst="line">
            <a:avLst/>
          </a:prstGeom>
          <a:noFill/>
          <a:ln w="22225">
            <a:solidFill>
              <a:schemeClr val="accent2"/>
            </a:solidFill>
            <a:prstDash val="dash"/>
            <a:tailEnd type="triangle"/>
          </a:ln>
        </p:spPr>
      </p:sp>
      <p:sp>
        <p:nvSpPr>
          <p:cNvPr id="46" name="Text 44"/>
          <p:cNvSpPr txBox="1"/>
          <p:nvPr/>
        </p:nvSpPr>
        <p:spPr>
          <a:xfrm>
            <a:off x="8778240" y="4599432"/>
            <a:ext cx="411480" cy="256032"/>
          </a:xfrm>
          <a:prstGeom prst="rect">
            <a:avLst/>
          </a:prstGeom>
          <a:noFill/>
          <a:ln/>
        </p:spPr>
        <p:txBody>
          <a:bodyPr wrap="square" lIns="0" tIns="0" rIns="0" bIns="0" rtlCol="0" anchor="ctr"/>
          <a:lstStyle/>
          <a:p>
            <a:pPr algn="ctr" indent="0" marL="0">
              <a:buNone/>
            </a:pPr>
            <a:r>
              <a:rPr lang="en-US" sz="1000" b="1" dirty="0">
                <a:solidFill>
                  <a:schemeClr val="accent6"/>
                </a:solidFill>
              </a:rPr>
              <a:t>trigger</a:t>
            </a:r>
            <a:endParaRPr lang="en-US" sz="1000" dirty="0"/>
          </a:p>
        </p:txBody>
      </p:sp>
      <p:sp>
        <p:nvSpPr>
          <p:cNvPr id="47" name="Shape 45"/>
          <p:cNvSpPr/>
          <p:nvPr/>
        </p:nvSpPr>
        <p:spPr>
          <a:xfrm>
            <a:off x="548640" y="6099048"/>
            <a:ext cx="201168" cy="201168"/>
          </a:xfrm>
          <a:prstGeom prst="rect">
            <a:avLst/>
          </a:prstGeom>
          <a:solidFill>
            <a:schemeClr val="accent6"/>
          </a:solidFill>
          <a:ln w="12700">
            <a:solidFill>
              <a:schemeClr val="accent6"/>
            </a:solidFill>
            <a:prstDash val="solid"/>
          </a:ln>
        </p:spPr>
      </p:sp>
      <p:sp>
        <p:nvSpPr>
          <p:cNvPr id="48" name="Text 46"/>
          <p:cNvSpPr txBox="1"/>
          <p:nvPr/>
        </p:nvSpPr>
        <p:spPr>
          <a:xfrm>
            <a:off x="841248" y="6035040"/>
            <a:ext cx="2560320" cy="329184"/>
          </a:xfrm>
          <a:prstGeom prst="rect">
            <a:avLst/>
          </a:prstGeom>
          <a:noFill/>
          <a:ln/>
        </p:spPr>
        <p:txBody>
          <a:bodyPr wrap="square" lIns="0" tIns="0" rIns="0" bIns="0" rtlCol="0" anchor="ctr"/>
          <a:lstStyle/>
          <a:p>
            <a:pPr indent="0" marL="0">
              <a:buNone/>
            </a:pPr>
            <a:r>
              <a:rPr lang="en-US" sz="1100" dirty="0">
                <a:solidFill>
                  <a:schemeClr val="tx1"/>
                </a:solidFill>
              </a:rPr>
              <a:t>Supabase Auth</a:t>
            </a:r>
            <a:endParaRPr lang="en-US" sz="1100" dirty="0"/>
          </a:p>
        </p:txBody>
      </p:sp>
      <p:sp>
        <p:nvSpPr>
          <p:cNvPr id="49" name="Shape 47"/>
          <p:cNvSpPr/>
          <p:nvPr/>
        </p:nvSpPr>
        <p:spPr>
          <a:xfrm>
            <a:off x="3474720" y="6099048"/>
            <a:ext cx="201168" cy="201168"/>
          </a:xfrm>
          <a:prstGeom prst="rect">
            <a:avLst/>
          </a:prstGeom>
          <a:solidFill>
            <a:schemeClr val="accent1"/>
          </a:solidFill>
          <a:ln w="12700">
            <a:solidFill>
              <a:schemeClr val="accent1"/>
            </a:solidFill>
            <a:prstDash val="solid"/>
          </a:ln>
        </p:spPr>
      </p:sp>
      <p:sp>
        <p:nvSpPr>
          <p:cNvPr id="50" name="Text 48"/>
          <p:cNvSpPr txBox="1"/>
          <p:nvPr/>
        </p:nvSpPr>
        <p:spPr>
          <a:xfrm>
            <a:off x="3767328" y="6035040"/>
            <a:ext cx="2560320" cy="329184"/>
          </a:xfrm>
          <a:prstGeom prst="rect">
            <a:avLst/>
          </a:prstGeom>
          <a:noFill/>
          <a:ln/>
        </p:spPr>
        <p:txBody>
          <a:bodyPr wrap="square" lIns="0" tIns="0" rIns="0" bIns="0" rtlCol="0" anchor="ctr"/>
          <a:lstStyle/>
          <a:p>
            <a:pPr indent="0" marL="0">
              <a:buNone/>
            </a:pPr>
            <a:r>
              <a:rPr lang="en-US" sz="1100" dirty="0">
                <a:solidFill>
                  <a:schemeClr val="tx1"/>
                </a:solidFill>
              </a:rPr>
              <a:t>Private: owner-only (RLS)</a:t>
            </a:r>
            <a:endParaRPr lang="en-US" sz="1100" dirty="0"/>
          </a:p>
        </p:txBody>
      </p:sp>
      <p:sp>
        <p:nvSpPr>
          <p:cNvPr id="51" name="Shape 49"/>
          <p:cNvSpPr/>
          <p:nvPr/>
        </p:nvSpPr>
        <p:spPr>
          <a:xfrm>
            <a:off x="6400800" y="6099048"/>
            <a:ext cx="201168" cy="201168"/>
          </a:xfrm>
          <a:prstGeom prst="rect">
            <a:avLst/>
          </a:prstGeom>
          <a:solidFill>
            <a:schemeClr val="accent2"/>
          </a:solidFill>
          <a:ln w="12700">
            <a:solidFill>
              <a:schemeClr val="accent2"/>
            </a:solidFill>
            <a:prstDash val="solid"/>
          </a:ln>
        </p:spPr>
      </p:sp>
      <p:sp>
        <p:nvSpPr>
          <p:cNvPr id="52" name="Text 50"/>
          <p:cNvSpPr txBox="1"/>
          <p:nvPr/>
        </p:nvSpPr>
        <p:spPr>
          <a:xfrm>
            <a:off x="6693408" y="6035040"/>
            <a:ext cx="2560320" cy="329184"/>
          </a:xfrm>
          <a:prstGeom prst="rect">
            <a:avLst/>
          </a:prstGeom>
          <a:noFill/>
          <a:ln/>
        </p:spPr>
        <p:txBody>
          <a:bodyPr wrap="square" lIns="0" tIns="0" rIns="0" bIns="0" rtlCol="0" anchor="ctr"/>
          <a:lstStyle/>
          <a:p>
            <a:pPr indent="0" marL="0">
              <a:buNone/>
            </a:pPr>
            <a:r>
              <a:rPr lang="en-US" sz="1100" dirty="0">
                <a:solidFill>
                  <a:schemeClr val="tx1"/>
                </a:solidFill>
              </a:rPr>
              <a:t>Shared catalog: admin writes</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Who can see what</a:t>
            </a:r>
            <a:endParaRPr lang="en-US" sz="3400" dirty="0"/>
          </a:p>
        </p:txBody>
      </p:sp>
      <p:graphicFrame>
        <p:nvGraphicFramePr>
          <p:cNvPr id="6" name="Permissions table"/>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914400"/>
        </p:xfrm>
        <a:graphic>
          <a:graphicData uri="http://schemas.openxmlformats.org/drawingml/2006/table">
            <a:tbl>
              <a:tblPr/>
              <a:tblGrid>
                <a:gridCol w="3108960"/>
                <a:gridCol w="1737360"/>
                <a:gridCol w="2103120"/>
              </a:tblGrid>
              <a:tr h="566928">
                <a:tc>
                  <a:txBody>
                    <a:bodyPr/>
                    <a:lstStyle/>
                    <a:p>
                      <a:pPr indent="0" marL="0">
                        <a:buNone/>
                      </a:pPr>
                      <a:r>
                        <a:rPr lang="en-US" sz="1400" b="1" dirty="0">
                          <a:solidFill>
                            <a:schemeClr val="bg1"/>
                          </a:solidFill>
                        </a:rPr>
                        <a:t>Data</a:t>
                      </a:r>
                      <a:endParaRPr lang="en-US" sz="1400" dirty="0"/>
                    </a:p>
                  </a:txBody>
                  <a:tcPr marL="109728" marR="109728" marT="45720" marB="45720" anchor="ctr">
                    <a:lnL w="9525" cap="flat" cmpd="sng" algn="ctr">
                      <a:solidFill>
                        <a:srgbClr val="C2CBC5"/>
                      </a:solidFill>
                      <a:prstDash val="solid"/>
                      <a:round/>
                      <a:headEnd type="none" w="med" len="med"/>
                      <a:tailEnd type="none" w="med" len="med"/>
                    </a:lnL>
                    <a:lnR w="9525" cap="flat" cmpd="sng" algn="ctr">
                      <a:solidFill>
                        <a:srgbClr val="C2CBC5"/>
                      </a:solidFill>
                      <a:prstDash val="solid"/>
                      <a:round/>
                      <a:headEnd type="none" w="med" len="med"/>
                      <a:tailEnd type="none" w="med" len="med"/>
                    </a:lnR>
                    <a:lnT w="9525" cap="flat" cmpd="sng" algn="ctr">
                      <a:solidFill>
                        <a:srgbClr val="C2CBC5"/>
                      </a:solidFill>
                      <a:prstDash val="solid"/>
                      <a:round/>
                      <a:headEnd type="none" w="med" len="med"/>
                      <a:tailEnd type="none" w="med" len="med"/>
                    </a:lnT>
                    <a:lnB w="9525" cap="flat" cmpd="sng" algn="ctr">
                      <a:solidFill>
                        <a:srgbClr val="C2CBC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Member</a:t>
                      </a:r>
                      <a:endParaRPr lang="en-US" sz="1400" dirty="0"/>
                    </a:p>
                  </a:txBody>
                  <a:tcPr marL="109728" marR="109728" marT="45720" marB="45720" anchor="ctr">
                    <a:lnL w="9525" cap="flat" cmpd="sng" algn="ctr">
                      <a:solidFill>
                        <a:srgbClr val="C2CBC5"/>
                      </a:solidFill>
                      <a:prstDash val="solid"/>
                      <a:round/>
                      <a:headEnd type="none" w="med" len="med"/>
                      <a:tailEnd type="none" w="med" len="med"/>
                    </a:lnL>
                    <a:lnR w="9525" cap="flat" cmpd="sng" algn="ctr">
                      <a:solidFill>
                        <a:srgbClr val="C2CBC5"/>
                      </a:solidFill>
                      <a:prstDash val="solid"/>
                      <a:round/>
                      <a:headEnd type="none" w="med" len="med"/>
                      <a:tailEnd type="none" w="med" len="med"/>
                    </a:lnR>
                    <a:lnT w="9525" cap="flat" cmpd="sng" algn="ctr">
                      <a:solidFill>
                        <a:srgbClr val="C2CBC5"/>
                      </a:solidFill>
                      <a:prstDash val="solid"/>
                      <a:round/>
                      <a:headEnd type="none" w="med" len="med"/>
                      <a:tailEnd type="none" w="med" len="med"/>
                    </a:lnT>
                    <a:lnB w="9525" cap="flat" cmpd="sng" algn="ctr">
                      <a:solidFill>
                        <a:srgbClr val="C2CBC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Admin (e.g. Pao)</a:t>
                      </a:r>
                      <a:endParaRPr lang="en-US" sz="1400" dirty="0"/>
                    </a:p>
                  </a:txBody>
                  <a:tcPr marL="109728" marR="109728" marT="45720" marB="45720" anchor="ctr">
                    <a:lnL w="9525" cap="flat" cmpd="sng" algn="ctr">
                      <a:solidFill>
                        <a:srgbClr val="C2CBC5"/>
                      </a:solidFill>
                      <a:prstDash val="solid"/>
                      <a:round/>
                      <a:headEnd type="none" w="med" len="med"/>
                      <a:tailEnd type="none" w="med" len="med"/>
                    </a:lnL>
                    <a:lnR w="9525" cap="flat" cmpd="sng" algn="ctr">
                      <a:solidFill>
                        <a:srgbClr val="C2CBC5"/>
                      </a:solidFill>
                      <a:prstDash val="solid"/>
                      <a:round/>
                      <a:headEnd type="none" w="med" len="med"/>
                      <a:tailEnd type="none" w="med" len="med"/>
                    </a:lnR>
                    <a:lnT w="9525" cap="flat" cmpd="sng" algn="ctr">
                      <a:solidFill>
                        <a:srgbClr val="C2CBC5"/>
                      </a:solidFill>
                      <a:prstDash val="solid"/>
                      <a:round/>
                      <a:headEnd type="none" w="med" len="med"/>
                      <a:tailEnd type="none" w="med" len="med"/>
                    </a:lnT>
                    <a:lnB w="9525" cap="flat" cmpd="sng" algn="ctr">
                      <a:solidFill>
                        <a:srgbClr val="C2CBC5"/>
                      </a:solidFill>
                      <a:prstDash val="solid"/>
                      <a:round/>
                      <a:headEnd type="none" w="med" len="med"/>
                      <a:tailEnd type="none" w="med" len="med"/>
                    </a:lnB>
                    <a:solidFill>
                      <a:schemeClr val="tx2"/>
                    </a:solidFill>
                  </a:tcPr>
                </a:tc>
              </a:tr>
              <a:tr h="566928">
                <a:tc>
                  <a:txBody>
                    <a:bodyPr/>
                    <a:lstStyle/>
                    <a:p>
                      <a:pPr indent="0" marL="0">
                        <a:buNone/>
                      </a:pPr>
                      <a:r>
                        <a:rPr lang="en-US" sz="1400" dirty="0">
                          <a:solidFill>
                            <a:schemeClr val="tx1"/>
                          </a:solidFill>
                        </a:rPr>
                        <a:t>exercises, rec_center_equipment</a:t>
                      </a:r>
                      <a:endParaRPr lang="en-US" sz="1400" dirty="0"/>
                    </a:p>
                  </a:txBody>
                  <a:tcPr marL="109728" marR="109728" marT="45720" marB="45720" anchor="ctr">
                    <a:lnL w="9525" cap="flat" cmpd="sng" algn="ctr">
                      <a:solidFill>
                        <a:srgbClr val="C2CBC5"/>
                      </a:solidFill>
                      <a:prstDash val="solid"/>
                      <a:round/>
                      <a:headEnd type="none" w="med" len="med"/>
                      <a:tailEnd type="none" w="med" len="med"/>
                    </a:lnL>
                    <a:lnR w="9525" cap="flat" cmpd="sng" algn="ctr">
                      <a:solidFill>
                        <a:srgbClr val="C2CBC5"/>
                      </a:solidFill>
                      <a:prstDash val="solid"/>
                      <a:round/>
                      <a:headEnd type="none" w="med" len="med"/>
                      <a:tailEnd type="none" w="med" len="med"/>
                    </a:lnR>
                    <a:lnT w="9525" cap="flat" cmpd="sng" algn="ctr">
                      <a:solidFill>
                        <a:srgbClr val="C2CBC5"/>
                      </a:solidFill>
                      <a:prstDash val="solid"/>
                      <a:round/>
                      <a:headEnd type="none" w="med" len="med"/>
                      <a:tailEnd type="none" w="med" len="med"/>
                    </a:lnT>
                    <a:lnB w="9525" cap="flat" cmpd="sng" algn="ctr">
                      <a:solidFill>
                        <a:srgbClr val="C2CBC5"/>
                      </a:solidFill>
                      <a:prstDash val="solid"/>
                      <a:round/>
                      <a:headEnd type="none" w="med" len="med"/>
                      <a:tailEnd type="none" w="med" len="med"/>
                    </a:lnB>
                  </a:tcPr>
                </a:tc>
                <a:tc>
                  <a:txBody>
                    <a:bodyPr/>
                    <a:lstStyle/>
                    <a:p>
                      <a:pPr indent="0" marL="0">
                        <a:buNone/>
                      </a:pPr>
                      <a:r>
                        <a:rPr lang="en-US" sz="1400" dirty="0">
                          <a:solidFill>
                            <a:schemeClr val="tx1"/>
                          </a:solidFill>
                        </a:rPr>
                        <a:t>read</a:t>
                      </a:r>
                      <a:endParaRPr lang="en-US" sz="1400" dirty="0"/>
                    </a:p>
                  </a:txBody>
                  <a:tcPr marL="109728" marR="109728" marT="45720" marB="45720" anchor="ctr">
                    <a:lnL w="9525" cap="flat" cmpd="sng" algn="ctr">
                      <a:solidFill>
                        <a:srgbClr val="C2CBC5"/>
                      </a:solidFill>
                      <a:prstDash val="solid"/>
                      <a:round/>
                      <a:headEnd type="none" w="med" len="med"/>
                      <a:tailEnd type="none" w="med" len="med"/>
                    </a:lnL>
                    <a:lnR w="9525" cap="flat" cmpd="sng" algn="ctr">
                      <a:solidFill>
                        <a:srgbClr val="C2CBC5"/>
                      </a:solidFill>
                      <a:prstDash val="solid"/>
                      <a:round/>
                      <a:headEnd type="none" w="med" len="med"/>
                      <a:tailEnd type="none" w="med" len="med"/>
                    </a:lnR>
                    <a:lnT w="9525" cap="flat" cmpd="sng" algn="ctr">
                      <a:solidFill>
                        <a:srgbClr val="C2CBC5"/>
                      </a:solidFill>
                      <a:prstDash val="solid"/>
                      <a:round/>
                      <a:headEnd type="none" w="med" len="med"/>
                      <a:tailEnd type="none" w="med" len="med"/>
                    </a:lnT>
                    <a:lnB w="9525" cap="flat" cmpd="sng" algn="ctr">
                      <a:solidFill>
                        <a:srgbClr val="C2CBC5"/>
                      </a:solidFill>
                      <a:prstDash val="solid"/>
                      <a:round/>
                      <a:headEnd type="none" w="med" len="med"/>
                      <a:tailEnd type="none" w="med" len="med"/>
                    </a:lnB>
                  </a:tcPr>
                </a:tc>
                <a:tc>
                  <a:txBody>
                    <a:bodyPr/>
                    <a:lstStyle/>
                    <a:p>
                      <a:pPr indent="0" marL="0">
                        <a:buNone/>
                      </a:pPr>
                      <a:r>
                        <a:rPr lang="en-US" sz="1400" b="1" dirty="0">
                          <a:solidFill>
                            <a:schemeClr val="accent1"/>
                          </a:solidFill>
                        </a:rPr>
                        <a:t>read + write</a:t>
                      </a:r>
                      <a:endParaRPr lang="en-US" sz="1400" dirty="0"/>
                    </a:p>
                  </a:txBody>
                  <a:tcPr marL="109728" marR="109728" marT="45720" marB="45720" anchor="ctr">
                    <a:lnL w="9525" cap="flat" cmpd="sng" algn="ctr">
                      <a:solidFill>
                        <a:srgbClr val="C2CBC5"/>
                      </a:solidFill>
                      <a:prstDash val="solid"/>
                      <a:round/>
                      <a:headEnd type="none" w="med" len="med"/>
                      <a:tailEnd type="none" w="med" len="med"/>
                    </a:lnL>
                    <a:lnR w="9525" cap="flat" cmpd="sng" algn="ctr">
                      <a:solidFill>
                        <a:srgbClr val="C2CBC5"/>
                      </a:solidFill>
                      <a:prstDash val="solid"/>
                      <a:round/>
                      <a:headEnd type="none" w="med" len="med"/>
                      <a:tailEnd type="none" w="med" len="med"/>
                    </a:lnR>
                    <a:lnT w="9525" cap="flat" cmpd="sng" algn="ctr">
                      <a:solidFill>
                        <a:srgbClr val="C2CBC5"/>
                      </a:solidFill>
                      <a:prstDash val="solid"/>
                      <a:round/>
                      <a:headEnd type="none" w="med" len="med"/>
                      <a:tailEnd type="none" w="med" len="med"/>
                    </a:lnT>
                    <a:lnB w="9525" cap="flat" cmpd="sng" algn="ctr">
                      <a:solidFill>
                        <a:srgbClr val="C2CBC5"/>
                      </a:solidFill>
                      <a:prstDash val="solid"/>
                      <a:round/>
                      <a:headEnd type="none" w="med" len="med"/>
                      <a:tailEnd type="none" w="med" len="med"/>
                    </a:lnB>
                  </a:tcPr>
                </a:tc>
              </a:tr>
              <a:tr h="566928">
                <a:tc>
                  <a:txBody>
                    <a:bodyPr/>
                    <a:lstStyle/>
                    <a:p>
                      <a:pPr indent="0" marL="0">
                        <a:buNone/>
                      </a:pPr>
                      <a:r>
                        <a:rPr lang="en-US" sz="1400" dirty="0">
                          <a:solidFill>
                            <a:schemeClr val="tx1"/>
                          </a:solidFill>
                        </a:rPr>
                        <a:t>your own workouts, sets, health data</a:t>
                      </a:r>
                      <a:endParaRPr lang="en-US" sz="1400" dirty="0"/>
                    </a:p>
                  </a:txBody>
                  <a:tcPr marL="109728" marR="109728" marT="45720" marB="45720" anchor="ctr">
                    <a:lnL w="9525" cap="flat" cmpd="sng" algn="ctr">
                      <a:solidFill>
                        <a:srgbClr val="C2CBC5"/>
                      </a:solidFill>
                      <a:prstDash val="solid"/>
                      <a:round/>
                      <a:headEnd type="none" w="med" len="med"/>
                      <a:tailEnd type="none" w="med" len="med"/>
                    </a:lnL>
                    <a:lnR w="9525" cap="flat" cmpd="sng" algn="ctr">
                      <a:solidFill>
                        <a:srgbClr val="C2CBC5"/>
                      </a:solidFill>
                      <a:prstDash val="solid"/>
                      <a:round/>
                      <a:headEnd type="none" w="med" len="med"/>
                      <a:tailEnd type="none" w="med" len="med"/>
                    </a:lnR>
                    <a:lnT w="9525" cap="flat" cmpd="sng" algn="ctr">
                      <a:solidFill>
                        <a:srgbClr val="C2CBC5"/>
                      </a:solidFill>
                      <a:prstDash val="solid"/>
                      <a:round/>
                      <a:headEnd type="none" w="med" len="med"/>
                      <a:tailEnd type="none" w="med" len="med"/>
                    </a:lnT>
                    <a:lnB w="9525" cap="flat" cmpd="sng" algn="ctr">
                      <a:solidFill>
                        <a:srgbClr val="C2CBC5"/>
                      </a:solidFill>
                      <a:prstDash val="solid"/>
                      <a:round/>
                      <a:headEnd type="none" w="med" len="med"/>
                      <a:tailEnd type="none" w="med" len="med"/>
                    </a:lnB>
                  </a:tcPr>
                </a:tc>
                <a:tc>
                  <a:txBody>
                    <a:bodyPr/>
                    <a:lstStyle/>
                    <a:p>
                      <a:pPr indent="0" marL="0">
                        <a:buNone/>
                      </a:pPr>
                      <a:r>
                        <a:rPr lang="en-US" sz="1400" b="1" dirty="0">
                          <a:solidFill>
                            <a:schemeClr val="accent1"/>
                          </a:solidFill>
                        </a:rPr>
                        <a:t>read + write</a:t>
                      </a:r>
                      <a:endParaRPr lang="en-US" sz="1400" dirty="0"/>
                    </a:p>
                  </a:txBody>
                  <a:tcPr marL="109728" marR="109728" marT="45720" marB="45720" anchor="ctr">
                    <a:lnL w="9525" cap="flat" cmpd="sng" algn="ctr">
                      <a:solidFill>
                        <a:srgbClr val="C2CBC5"/>
                      </a:solidFill>
                      <a:prstDash val="solid"/>
                      <a:round/>
                      <a:headEnd type="none" w="med" len="med"/>
                      <a:tailEnd type="none" w="med" len="med"/>
                    </a:lnL>
                    <a:lnR w="9525" cap="flat" cmpd="sng" algn="ctr">
                      <a:solidFill>
                        <a:srgbClr val="C2CBC5"/>
                      </a:solidFill>
                      <a:prstDash val="solid"/>
                      <a:round/>
                      <a:headEnd type="none" w="med" len="med"/>
                      <a:tailEnd type="none" w="med" len="med"/>
                    </a:lnR>
                    <a:lnT w="9525" cap="flat" cmpd="sng" algn="ctr">
                      <a:solidFill>
                        <a:srgbClr val="C2CBC5"/>
                      </a:solidFill>
                      <a:prstDash val="solid"/>
                      <a:round/>
                      <a:headEnd type="none" w="med" len="med"/>
                      <a:tailEnd type="none" w="med" len="med"/>
                    </a:lnT>
                    <a:lnB w="9525" cap="flat" cmpd="sng" algn="ctr">
                      <a:solidFill>
                        <a:srgbClr val="C2CBC5"/>
                      </a:solidFill>
                      <a:prstDash val="solid"/>
                      <a:round/>
                      <a:headEnd type="none" w="med" len="med"/>
                      <a:tailEnd type="none" w="med" len="med"/>
                    </a:lnB>
                  </a:tcPr>
                </a:tc>
                <a:tc>
                  <a:txBody>
                    <a:bodyPr/>
                    <a:lstStyle/>
                    <a:p>
                      <a:pPr indent="0" marL="0">
                        <a:buNone/>
                      </a:pPr>
                      <a:r>
                        <a:rPr lang="en-US" sz="1400" b="1" dirty="0">
                          <a:solidFill>
                            <a:schemeClr val="accent1"/>
                          </a:solidFill>
                        </a:rPr>
                        <a:t>read + write</a:t>
                      </a:r>
                      <a:endParaRPr lang="en-US" sz="1400" dirty="0"/>
                    </a:p>
                  </a:txBody>
                  <a:tcPr marL="109728" marR="109728" marT="45720" marB="45720" anchor="ctr">
                    <a:lnL w="9525" cap="flat" cmpd="sng" algn="ctr">
                      <a:solidFill>
                        <a:srgbClr val="C2CBC5"/>
                      </a:solidFill>
                      <a:prstDash val="solid"/>
                      <a:round/>
                      <a:headEnd type="none" w="med" len="med"/>
                      <a:tailEnd type="none" w="med" len="med"/>
                    </a:lnL>
                    <a:lnR w="9525" cap="flat" cmpd="sng" algn="ctr">
                      <a:solidFill>
                        <a:srgbClr val="C2CBC5"/>
                      </a:solidFill>
                      <a:prstDash val="solid"/>
                      <a:round/>
                      <a:headEnd type="none" w="med" len="med"/>
                      <a:tailEnd type="none" w="med" len="med"/>
                    </a:lnR>
                    <a:lnT w="9525" cap="flat" cmpd="sng" algn="ctr">
                      <a:solidFill>
                        <a:srgbClr val="C2CBC5"/>
                      </a:solidFill>
                      <a:prstDash val="solid"/>
                      <a:round/>
                      <a:headEnd type="none" w="med" len="med"/>
                      <a:tailEnd type="none" w="med" len="med"/>
                    </a:lnT>
                    <a:lnB w="9525" cap="flat" cmpd="sng" algn="ctr">
                      <a:solidFill>
                        <a:srgbClr val="C2CBC5"/>
                      </a:solidFill>
                      <a:prstDash val="solid"/>
                      <a:round/>
                      <a:headEnd type="none" w="med" len="med"/>
                      <a:tailEnd type="none" w="med" len="med"/>
                    </a:lnB>
                  </a:tcPr>
                </a:tc>
              </a:tr>
              <a:tr h="566928">
                <a:tc>
                  <a:txBody>
                    <a:bodyPr/>
                    <a:lstStyle/>
                    <a:p>
                      <a:pPr indent="0" marL="0">
                        <a:buNone/>
                      </a:pPr>
                      <a:r>
                        <a:rPr lang="en-US" sz="1400" dirty="0">
                          <a:solidFill>
                            <a:schemeClr val="tx1"/>
                          </a:solidFill>
                        </a:rPr>
                        <a:t>someone else's workouts or health data</a:t>
                      </a:r>
                      <a:endParaRPr lang="en-US" sz="1400" dirty="0"/>
                    </a:p>
                  </a:txBody>
                  <a:tcPr marL="109728" marR="109728" marT="45720" marB="45720" anchor="ctr">
                    <a:lnL w="9525" cap="flat" cmpd="sng" algn="ctr">
                      <a:solidFill>
                        <a:srgbClr val="C2CBC5"/>
                      </a:solidFill>
                      <a:prstDash val="solid"/>
                      <a:round/>
                      <a:headEnd type="none" w="med" len="med"/>
                      <a:tailEnd type="none" w="med" len="med"/>
                    </a:lnL>
                    <a:lnR w="9525" cap="flat" cmpd="sng" algn="ctr">
                      <a:solidFill>
                        <a:srgbClr val="C2CBC5"/>
                      </a:solidFill>
                      <a:prstDash val="solid"/>
                      <a:round/>
                      <a:headEnd type="none" w="med" len="med"/>
                      <a:tailEnd type="none" w="med" len="med"/>
                    </a:lnR>
                    <a:lnT w="9525" cap="flat" cmpd="sng" algn="ctr">
                      <a:solidFill>
                        <a:srgbClr val="C2CBC5"/>
                      </a:solidFill>
                      <a:prstDash val="solid"/>
                      <a:round/>
                      <a:headEnd type="none" w="med" len="med"/>
                      <a:tailEnd type="none" w="med" len="med"/>
                    </a:lnT>
                    <a:lnB w="9525" cap="flat" cmpd="sng" algn="ctr">
                      <a:solidFill>
                        <a:srgbClr val="C2CBC5"/>
                      </a:solidFill>
                      <a:prstDash val="solid"/>
                      <a:round/>
                      <a:headEnd type="none" w="med" len="med"/>
                      <a:tailEnd type="none" w="med" len="med"/>
                    </a:lnB>
                  </a:tcPr>
                </a:tc>
                <a:tc>
                  <a:txBody>
                    <a:bodyPr/>
                    <a:lstStyle/>
                    <a:p>
                      <a:pPr indent="0" marL="0">
                        <a:buNone/>
                      </a:pPr>
                      <a:r>
                        <a:rPr lang="en-US" sz="1400" b="1" dirty="0">
                          <a:solidFill>
                            <a:schemeClr val="accent5"/>
                          </a:solidFill>
                        </a:rPr>
                        <a:t>none</a:t>
                      </a:r>
                      <a:endParaRPr lang="en-US" sz="1400" dirty="0"/>
                    </a:p>
                  </a:txBody>
                  <a:tcPr marL="109728" marR="109728" marT="45720" marB="45720" anchor="ctr">
                    <a:lnL w="9525" cap="flat" cmpd="sng" algn="ctr">
                      <a:solidFill>
                        <a:srgbClr val="C2CBC5"/>
                      </a:solidFill>
                      <a:prstDash val="solid"/>
                      <a:round/>
                      <a:headEnd type="none" w="med" len="med"/>
                      <a:tailEnd type="none" w="med" len="med"/>
                    </a:lnL>
                    <a:lnR w="9525" cap="flat" cmpd="sng" algn="ctr">
                      <a:solidFill>
                        <a:srgbClr val="C2CBC5"/>
                      </a:solidFill>
                      <a:prstDash val="solid"/>
                      <a:round/>
                      <a:headEnd type="none" w="med" len="med"/>
                      <a:tailEnd type="none" w="med" len="med"/>
                    </a:lnR>
                    <a:lnT w="9525" cap="flat" cmpd="sng" algn="ctr">
                      <a:solidFill>
                        <a:srgbClr val="C2CBC5"/>
                      </a:solidFill>
                      <a:prstDash val="solid"/>
                      <a:round/>
                      <a:headEnd type="none" w="med" len="med"/>
                      <a:tailEnd type="none" w="med" len="med"/>
                    </a:lnT>
                    <a:lnB w="9525" cap="flat" cmpd="sng" algn="ctr">
                      <a:solidFill>
                        <a:srgbClr val="C2CBC5"/>
                      </a:solidFill>
                      <a:prstDash val="solid"/>
                      <a:round/>
                      <a:headEnd type="none" w="med" len="med"/>
                      <a:tailEnd type="none" w="med" len="med"/>
                    </a:lnB>
                  </a:tcPr>
                </a:tc>
                <a:tc>
                  <a:txBody>
                    <a:bodyPr/>
                    <a:lstStyle/>
                    <a:p>
                      <a:pPr indent="0" marL="0">
                        <a:buNone/>
                      </a:pPr>
                      <a:r>
                        <a:rPr lang="en-US" sz="1400" b="1" dirty="0">
                          <a:solidFill>
                            <a:schemeClr val="accent5"/>
                          </a:solidFill>
                        </a:rPr>
                        <a:t>none</a:t>
                      </a:r>
                      <a:endParaRPr lang="en-US" sz="1400" dirty="0"/>
                    </a:p>
                  </a:txBody>
                  <a:tcPr marL="109728" marR="109728" marT="45720" marB="45720" anchor="ctr">
                    <a:lnL w="9525" cap="flat" cmpd="sng" algn="ctr">
                      <a:solidFill>
                        <a:srgbClr val="C2CBC5"/>
                      </a:solidFill>
                      <a:prstDash val="solid"/>
                      <a:round/>
                      <a:headEnd type="none" w="med" len="med"/>
                      <a:tailEnd type="none" w="med" len="med"/>
                    </a:lnL>
                    <a:lnR w="9525" cap="flat" cmpd="sng" algn="ctr">
                      <a:solidFill>
                        <a:srgbClr val="C2CBC5"/>
                      </a:solidFill>
                      <a:prstDash val="solid"/>
                      <a:round/>
                      <a:headEnd type="none" w="med" len="med"/>
                      <a:tailEnd type="none" w="med" len="med"/>
                    </a:lnR>
                    <a:lnT w="9525" cap="flat" cmpd="sng" algn="ctr">
                      <a:solidFill>
                        <a:srgbClr val="C2CBC5"/>
                      </a:solidFill>
                      <a:prstDash val="solid"/>
                      <a:round/>
                      <a:headEnd type="none" w="med" len="med"/>
                      <a:tailEnd type="none" w="med" len="med"/>
                    </a:lnT>
                    <a:lnB w="9525" cap="flat" cmpd="sng" algn="ctr">
                      <a:solidFill>
                        <a:srgbClr val="C2CBC5"/>
                      </a:solidFill>
                      <a:prstDash val="solid"/>
                      <a:round/>
                      <a:headEnd type="none" w="med" len="med"/>
                      <a:tailEnd type="none" w="med" len="med"/>
                    </a:lnB>
                  </a:tcPr>
                </a:tc>
              </a:tr>
              <a:tr h="566928">
                <a:tc>
                  <a:txBody>
                    <a:bodyPr/>
                    <a:lstStyle/>
                    <a:p>
                      <a:pPr indent="0" marL="0">
                        <a:buNone/>
                      </a:pPr>
                      <a:r>
                        <a:rPr lang="en-US" sz="1400" dirty="0">
                          <a:solidFill>
                            <a:schemeClr val="tx1"/>
                          </a:solidFill>
                        </a:rPr>
                        <a:t>your own role</a:t>
                      </a:r>
                      <a:endParaRPr lang="en-US" sz="1400" dirty="0"/>
                    </a:p>
                  </a:txBody>
                  <a:tcPr marL="109728" marR="109728" marT="45720" marB="45720" anchor="ctr">
                    <a:lnL w="9525" cap="flat" cmpd="sng" algn="ctr">
                      <a:solidFill>
                        <a:srgbClr val="C2CBC5"/>
                      </a:solidFill>
                      <a:prstDash val="solid"/>
                      <a:round/>
                      <a:headEnd type="none" w="med" len="med"/>
                      <a:tailEnd type="none" w="med" len="med"/>
                    </a:lnL>
                    <a:lnR w="9525" cap="flat" cmpd="sng" algn="ctr">
                      <a:solidFill>
                        <a:srgbClr val="C2CBC5"/>
                      </a:solidFill>
                      <a:prstDash val="solid"/>
                      <a:round/>
                      <a:headEnd type="none" w="med" len="med"/>
                      <a:tailEnd type="none" w="med" len="med"/>
                    </a:lnR>
                    <a:lnT w="9525" cap="flat" cmpd="sng" algn="ctr">
                      <a:solidFill>
                        <a:srgbClr val="C2CBC5"/>
                      </a:solidFill>
                      <a:prstDash val="solid"/>
                      <a:round/>
                      <a:headEnd type="none" w="med" len="med"/>
                      <a:tailEnd type="none" w="med" len="med"/>
                    </a:lnT>
                    <a:lnB w="9525" cap="flat" cmpd="sng" algn="ctr">
                      <a:solidFill>
                        <a:srgbClr val="C2CBC5"/>
                      </a:solidFill>
                      <a:prstDash val="solid"/>
                      <a:round/>
                      <a:headEnd type="none" w="med" len="med"/>
                      <a:tailEnd type="none" w="med" len="med"/>
                    </a:lnB>
                  </a:tcPr>
                </a:tc>
                <a:tc>
                  <a:txBody>
                    <a:bodyPr/>
                    <a:lstStyle/>
                    <a:p>
                      <a:pPr indent="0" marL="0">
                        <a:buNone/>
                      </a:pPr>
                      <a:r>
                        <a:rPr lang="en-US" sz="1400" dirty="0">
                          <a:solidFill>
                            <a:schemeClr val="tx1"/>
                          </a:solidFill>
                        </a:rPr>
                        <a:t>cannot change</a:t>
                      </a:r>
                      <a:endParaRPr lang="en-US" sz="1400" dirty="0"/>
                    </a:p>
                  </a:txBody>
                  <a:tcPr marL="109728" marR="109728" marT="45720" marB="45720" anchor="ctr">
                    <a:lnL w="9525" cap="flat" cmpd="sng" algn="ctr">
                      <a:solidFill>
                        <a:srgbClr val="C2CBC5"/>
                      </a:solidFill>
                      <a:prstDash val="solid"/>
                      <a:round/>
                      <a:headEnd type="none" w="med" len="med"/>
                      <a:tailEnd type="none" w="med" len="med"/>
                    </a:lnL>
                    <a:lnR w="9525" cap="flat" cmpd="sng" algn="ctr">
                      <a:solidFill>
                        <a:srgbClr val="C2CBC5"/>
                      </a:solidFill>
                      <a:prstDash val="solid"/>
                      <a:round/>
                      <a:headEnd type="none" w="med" len="med"/>
                      <a:tailEnd type="none" w="med" len="med"/>
                    </a:lnR>
                    <a:lnT w="9525" cap="flat" cmpd="sng" algn="ctr">
                      <a:solidFill>
                        <a:srgbClr val="C2CBC5"/>
                      </a:solidFill>
                      <a:prstDash val="solid"/>
                      <a:round/>
                      <a:headEnd type="none" w="med" len="med"/>
                      <a:tailEnd type="none" w="med" len="med"/>
                    </a:lnT>
                    <a:lnB w="9525" cap="flat" cmpd="sng" algn="ctr">
                      <a:solidFill>
                        <a:srgbClr val="C2CBC5"/>
                      </a:solidFill>
                      <a:prstDash val="solid"/>
                      <a:round/>
                      <a:headEnd type="none" w="med" len="med"/>
                      <a:tailEnd type="none" w="med" len="med"/>
                    </a:lnB>
                  </a:tcPr>
                </a:tc>
                <a:tc>
                  <a:txBody>
                    <a:bodyPr/>
                    <a:lstStyle/>
                    <a:p>
                      <a:pPr indent="0" marL="0">
                        <a:buNone/>
                      </a:pPr>
                      <a:r>
                        <a:rPr lang="en-US" sz="1400" dirty="0">
                          <a:solidFill>
                            <a:schemeClr val="tx1"/>
                          </a:solidFill>
                        </a:rPr>
                        <a:t>changed only in SQL editor</a:t>
                      </a:r>
                      <a:endParaRPr lang="en-US" sz="1400" dirty="0"/>
                    </a:p>
                  </a:txBody>
                  <a:tcPr marL="109728" marR="109728" marT="45720" marB="45720" anchor="ctr">
                    <a:lnL w="9525" cap="flat" cmpd="sng" algn="ctr">
                      <a:solidFill>
                        <a:srgbClr val="C2CBC5"/>
                      </a:solidFill>
                      <a:prstDash val="solid"/>
                      <a:round/>
                      <a:headEnd type="none" w="med" len="med"/>
                      <a:tailEnd type="none" w="med" len="med"/>
                    </a:lnL>
                    <a:lnR w="9525" cap="flat" cmpd="sng" algn="ctr">
                      <a:solidFill>
                        <a:srgbClr val="C2CBC5"/>
                      </a:solidFill>
                      <a:prstDash val="solid"/>
                      <a:round/>
                      <a:headEnd type="none" w="med" len="med"/>
                      <a:tailEnd type="none" w="med" len="med"/>
                    </a:lnR>
                    <a:lnT w="9525" cap="flat" cmpd="sng" algn="ctr">
                      <a:solidFill>
                        <a:srgbClr val="C2CBC5"/>
                      </a:solidFill>
                      <a:prstDash val="solid"/>
                      <a:round/>
                      <a:headEnd type="none" w="med" len="med"/>
                      <a:tailEnd type="none" w="med" len="med"/>
                    </a:lnT>
                    <a:lnB w="9525" cap="flat" cmpd="sng" algn="ctr">
                      <a:solidFill>
                        <a:srgbClr val="C2CBC5"/>
                      </a:solidFill>
                      <a:prstDash val="solid"/>
                      <a:round/>
                      <a:headEnd type="none" w="med" len="med"/>
                      <a:tailEnd type="none" w="med" len="med"/>
                    </a:lnB>
                  </a:tcPr>
                </a:tc>
              </a:tr>
            </a:tbl>
          </a:graphicData>
        </a:graphic>
      </p:graphicFrame>
      <p:sp>
        <p:nvSpPr>
          <p:cNvPr id="4" name="Privacy callout"/>
          <p:cNvSpPr/>
          <p:nvPr/>
        </p:nvSpPr>
        <p:spPr>
          <a:xfrm>
            <a:off x="7955280" y="1463040"/>
            <a:ext cx="3685032" cy="2834640"/>
          </a:xfrm>
          <a:prstGeom prst="roundRect">
            <a:avLst>
              <a:gd name="adj" fmla="val 4839"/>
            </a:avLst>
          </a:prstGeom>
          <a:solidFill>
            <a:schemeClr val="tx2"/>
          </a:solidFill>
          <a:ln w="12700">
            <a:solidFill>
              <a:schemeClr val="tx2"/>
            </a:solidFill>
            <a:prstDash val="solid"/>
          </a:ln>
        </p:spPr>
      </p:sp>
      <p:sp>
        <p:nvSpPr>
          <p:cNvPr id="5" name="Text 2"/>
          <p:cNvSpPr txBox="1"/>
          <p:nvPr/>
        </p:nvSpPr>
        <p:spPr>
          <a:xfrm>
            <a:off x="8229600" y="1691640"/>
            <a:ext cx="3154680" cy="822960"/>
          </a:xfrm>
          <a:prstGeom prst="rect">
            <a:avLst/>
          </a:prstGeom>
          <a:noFill/>
          <a:ln/>
        </p:spPr>
        <p:txBody>
          <a:bodyPr wrap="square" lIns="0" tIns="0" rIns="0" bIns="0" rtlCol="0" anchor="t"/>
          <a:lstStyle/>
          <a:p>
            <a:pPr indent="0" marL="0">
              <a:buNone/>
            </a:pPr>
            <a:r>
              <a:rPr lang="en-US" sz="1900" b="1" dirty="0">
                <a:solidFill>
                  <a:schemeClr val="accent3"/>
                </a:solidFill>
              </a:rPr>
              <a:t>Admin manages content, not people</a:t>
            </a:r>
            <a:endParaRPr lang="en-US" sz="1900" dirty="0"/>
          </a:p>
        </p:txBody>
      </p:sp>
      <p:sp>
        <p:nvSpPr>
          <p:cNvPr id="6" name="Text 3"/>
          <p:cNvSpPr txBox="1"/>
          <p:nvPr/>
        </p:nvSpPr>
        <p:spPr>
          <a:xfrm>
            <a:off x="8229600" y="2560320"/>
            <a:ext cx="3154680" cy="1554480"/>
          </a:xfrm>
          <a:prstGeom prst="rect">
            <a:avLst/>
          </a:prstGeom>
          <a:noFill/>
          <a:ln/>
        </p:spPr>
        <p:txBody>
          <a:bodyPr wrap="square" lIns="0" tIns="0" rIns="0" bIns="0" rtlCol="0" anchor="t"/>
          <a:lstStyle/>
          <a:p>
            <a:pPr indent="0" marL="0">
              <a:buNone/>
            </a:pPr>
            <a:r>
              <a:rPr lang="en-US" sz="1400" dirty="0">
                <a:solidFill>
                  <a:schemeClr val="bg1"/>
                </a:solidFill>
              </a:rPr>
              <a:t>Postgres Row Level Security enforces this, not a hidden button. An admin who queries another student's sets gets zero rows back.</a:t>
            </a:r>
            <a:endParaRPr lang="en-US" sz="1400" dirty="0"/>
          </a:p>
        </p:txBody>
      </p:sp>
      <p:sp>
        <p:nvSpPr>
          <p:cNvPr id="7" name="Text 4"/>
          <p:cNvSpPr txBox="1"/>
          <p:nvPr/>
        </p:nvSpPr>
        <p:spPr>
          <a:xfrm>
            <a:off x="548640" y="4572000"/>
            <a:ext cx="11064240" cy="548640"/>
          </a:xfrm>
          <a:prstGeom prst="rect">
            <a:avLst/>
          </a:prstGeom>
          <a:noFill/>
          <a:ln/>
        </p:spPr>
        <p:txBody>
          <a:bodyPr wrap="square" lIns="0" tIns="0" rIns="0" bIns="0" rtlCol="0" anchor="ctr"/>
          <a:lstStyle/>
          <a:p>
            <a:pPr indent="0" marL="0">
              <a:buNone/>
            </a:pPr>
            <a:r>
              <a:rPr lang="en-US" sz="1400" dirty="0">
                <a:solidFill>
                  <a:schemeClr val="tx1"/>
                </a:solidFill>
              </a:rPr>
              <a:t>The role lives in profiles.role, which the app has no permission to update, so a user cannot promote themselves.</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On the web: landing page and sign-in</a:t>
            </a:r>
            <a:endParaRPr lang="en-US" sz="3400" dirty="0"/>
          </a:p>
        </p:txBody>
      </p:sp>
      <p:sp>
        <p:nvSpPr>
          <p:cNvPr id="3" name="Landing page screenshot frame"/>
          <p:cNvSpPr/>
          <p:nvPr/>
        </p:nvSpPr>
        <p:spPr>
          <a:xfrm>
            <a:off x="548640" y="1527048"/>
            <a:ext cx="5495544" cy="2690626"/>
          </a:xfrm>
          <a:prstGeom prst="roundRect">
            <a:avLst>
              <a:gd name="adj" fmla="val 4078"/>
            </a:avLst>
          </a:prstGeom>
          <a:solidFill>
            <a:schemeClr val="accent2"/>
          </a:solidFill>
          <a:ln w="12700">
            <a:solidFill>
              <a:schemeClr val="accent2"/>
            </a:solidFill>
            <a:prstDash val="solid"/>
          </a:ln>
          <a:effectLst>
            <a:outerShdw sx="100000" sy="100000" kx="0" ky="0" algn="bl" rotWithShape="0" blurRad="76200" dist="25400" dir="5400000">
              <a:srgbClr val="000000">
                <a:alpha val="18000"/>
              </a:srgbClr>
            </a:outerShdw>
          </a:effectLst>
        </p:spPr>
      </p:sp>
      <p:pic>
        <p:nvPicPr>
          <p:cNvPr id="4" name="Landing page screenshot" descr="Landing page screenshot">    </p:cNvPr>
          <p:cNvPicPr>
            <a:picLocks noChangeAspect="1"/>
          </p:cNvPicPr>
          <p:nvPr/>
        </p:nvPicPr>
        <p:blipFill>
          <a:blip r:embed="rId1"/>
          <a:stretch>
            <a:fillRect/>
          </a:stretch>
        </p:blipFill>
        <p:spPr>
          <a:xfrm>
            <a:off x="621792" y="1600200"/>
            <a:ext cx="5349240" cy="2544322"/>
          </a:xfrm>
          <a:prstGeom prst="rect">
            <a:avLst/>
          </a:prstGeom>
        </p:spPr>
      </p:pic>
      <p:sp>
        <p:nvSpPr>
          <p:cNvPr id="5" name="Login page screenshot frame"/>
          <p:cNvSpPr/>
          <p:nvPr/>
        </p:nvSpPr>
        <p:spPr>
          <a:xfrm>
            <a:off x="6144768" y="1527048"/>
            <a:ext cx="5495544" cy="2659802"/>
          </a:xfrm>
          <a:prstGeom prst="roundRect">
            <a:avLst>
              <a:gd name="adj" fmla="val 4125"/>
            </a:avLst>
          </a:prstGeom>
          <a:solidFill>
            <a:schemeClr val="accent2"/>
          </a:solidFill>
          <a:ln w="12700">
            <a:solidFill>
              <a:schemeClr val="accent2"/>
            </a:solidFill>
            <a:prstDash val="solid"/>
          </a:ln>
          <a:effectLst>
            <a:outerShdw sx="100000" sy="100000" kx="0" ky="0" algn="bl" rotWithShape="0" blurRad="76200" dist="25400" dir="5400000">
              <a:srgbClr val="000000">
                <a:alpha val="18000"/>
              </a:srgbClr>
            </a:outerShdw>
          </a:effectLst>
        </p:spPr>
      </p:sp>
      <p:pic>
        <p:nvPicPr>
          <p:cNvPr id="6" name="Login page screenshot" descr="Login page screenshot">    </p:cNvPr>
          <p:cNvPicPr>
            <a:picLocks noChangeAspect="1"/>
          </p:cNvPicPr>
          <p:nvPr/>
        </p:nvPicPr>
        <p:blipFill>
          <a:blip r:embed="rId2"/>
          <a:stretch>
            <a:fillRect/>
          </a:stretch>
        </p:blipFill>
        <p:spPr>
          <a:xfrm>
            <a:off x="6217920" y="1600200"/>
            <a:ext cx="5349240" cy="2513498"/>
          </a:xfrm>
          <a:prstGeom prst="rect">
            <a:avLst/>
          </a:prstGeom>
        </p:spPr>
      </p:pic>
      <p:sp>
        <p:nvSpPr>
          <p:cNvPr id="7" name="Text 3"/>
          <p:cNvSpPr txBox="1"/>
          <p:nvPr/>
        </p:nvSpPr>
        <p:spPr>
          <a:xfrm>
            <a:off x="621792" y="4418842"/>
            <a:ext cx="5349240" cy="320040"/>
          </a:xfrm>
          <a:prstGeom prst="rect">
            <a:avLst/>
          </a:prstGeom>
          <a:noFill/>
          <a:ln/>
        </p:spPr>
        <p:txBody>
          <a:bodyPr wrap="square" lIns="0" tIns="0" rIns="0" bIns="0" rtlCol="0" anchor="ctr"/>
          <a:lstStyle/>
          <a:p>
            <a:pPr indent="0" marL="0">
              <a:buNone/>
            </a:pPr>
            <a:r>
              <a:rPr lang="en-US" sz="1200" i="1" dirty="0">
                <a:solidFill>
                  <a:schemeClr val="accent6"/>
                </a:solidFill>
              </a:rPr>
              <a:t>Landing page: what the app is, with create-account and sign-in buttons</a:t>
            </a:r>
            <a:endParaRPr lang="en-US" sz="1200" dirty="0"/>
          </a:p>
        </p:txBody>
      </p:sp>
      <p:sp>
        <p:nvSpPr>
          <p:cNvPr id="8" name="Text 4"/>
          <p:cNvSpPr txBox="1"/>
          <p:nvPr/>
        </p:nvSpPr>
        <p:spPr>
          <a:xfrm>
            <a:off x="6217920" y="4418842"/>
            <a:ext cx="5349240" cy="320040"/>
          </a:xfrm>
          <a:prstGeom prst="rect">
            <a:avLst/>
          </a:prstGeom>
          <a:noFill/>
          <a:ln/>
        </p:spPr>
        <p:txBody>
          <a:bodyPr wrap="square" lIns="0" tIns="0" rIns="0" bIns="0" rtlCol="0" anchor="ctr"/>
          <a:lstStyle/>
          <a:p>
            <a:pPr indent="0" marL="0">
              <a:buNone/>
            </a:pPr>
            <a:r>
              <a:rPr lang="en-US" sz="1200" i="1" dirty="0">
                <a:solidFill>
                  <a:schemeClr val="accent6"/>
                </a:solidFill>
              </a:rPr>
              <a:t>Sign-in: email + password through Supabase Auth</a:t>
            </a:r>
            <a:endParaRPr lang="en-US" sz="1200" dirty="0"/>
          </a:p>
        </p:txBody>
      </p:sp>
      <p:sp>
        <p:nvSpPr>
          <p:cNvPr id="9" name="Theme note card"/>
          <p:cNvSpPr/>
          <p:nvPr/>
        </p:nvSpPr>
        <p:spPr>
          <a:xfrm>
            <a:off x="548640" y="4800600"/>
            <a:ext cx="11091672" cy="1005840"/>
          </a:xfrm>
          <a:prstGeom prst="roundRect">
            <a:avLst>
              <a:gd name="adj" fmla="val 10909"/>
            </a:avLst>
          </a:prstGeom>
          <a:solidFill>
            <a:schemeClr val="bg2"/>
          </a:solidFill>
          <a:ln w="12700">
            <a:solidFill>
              <a:schemeClr val="bg2"/>
            </a:solidFill>
            <a:prstDash val="solid"/>
          </a:ln>
        </p:spPr>
      </p:sp>
      <p:sp>
        <p:nvSpPr>
          <p:cNvPr id="10" name="Text 6"/>
          <p:cNvSpPr txBox="1"/>
          <p:nvPr/>
        </p:nvSpPr>
        <p:spPr>
          <a:xfrm>
            <a:off x="822960" y="4800600"/>
            <a:ext cx="10515600" cy="1005840"/>
          </a:xfrm>
          <a:prstGeom prst="rect">
            <a:avLst/>
          </a:prstGeom>
          <a:noFill/>
          <a:ln/>
        </p:spPr>
        <p:txBody>
          <a:bodyPr wrap="square" lIns="0" tIns="0" rIns="0" bIns="0" rtlCol="0" anchor="ctr"/>
          <a:lstStyle/>
          <a:p>
            <a:pPr indent="0" marL="0">
              <a:buNone/>
            </a:pPr>
            <a:r>
              <a:rPr lang="en-US" sz="1500" b="1" dirty="0">
                <a:solidFill>
                  <a:schemeClr val="tx2"/>
                </a:solidFill>
              </a:rPr>
              <a:t>Two themes ship together. </a:t>
            </a:r>
            <a:pPr indent="0" marL="0">
              <a:buNone/>
            </a:pPr>
            <a:r>
              <a:rPr lang="en-US" sz="1500" dirty="0">
                <a:solidFill>
                  <a:schemeClr val="tx1"/>
                </a:solidFill>
              </a:rPr>
              <a:t>Dark (black, #1A5634 green, #F8CB28 gold) is shown here; light uses white, #0B4022 and #BF9C1F. The app follows the device setting.</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On a phone: home and the workout logger</a:t>
            </a:r>
            <a:endParaRPr lang="en-US" sz="3400" dirty="0"/>
          </a:p>
        </p:txBody>
      </p:sp>
      <p:sp>
        <p:nvSpPr>
          <p:cNvPr id="3" name="Home screen on phone frame"/>
          <p:cNvSpPr/>
          <p:nvPr/>
        </p:nvSpPr>
        <p:spPr>
          <a:xfrm>
            <a:off x="566928" y="1252728"/>
            <a:ext cx="2641650" cy="4718304"/>
          </a:xfrm>
          <a:prstGeom prst="roundRect">
            <a:avLst>
              <a:gd name="adj" fmla="val 4154"/>
            </a:avLst>
          </a:prstGeom>
          <a:solidFill>
            <a:schemeClr val="accent2"/>
          </a:solidFill>
          <a:ln w="12700">
            <a:solidFill>
              <a:schemeClr val="accent2"/>
            </a:solidFill>
            <a:prstDash val="solid"/>
          </a:ln>
          <a:effectLst>
            <a:outerShdw sx="100000" sy="100000" kx="0" ky="0" algn="bl" rotWithShape="0" blurRad="76200" dist="25400" dir="5400000">
              <a:srgbClr val="000000">
                <a:alpha val="18000"/>
              </a:srgbClr>
            </a:outerShdw>
          </a:effectLst>
        </p:spPr>
      </p:sp>
      <p:pic>
        <p:nvPicPr>
          <p:cNvPr id="4" name="Home screen on phone" descr="Home screen on phone">    </p:cNvPr>
          <p:cNvPicPr>
            <a:picLocks noChangeAspect="1"/>
          </p:cNvPicPr>
          <p:nvPr/>
        </p:nvPicPr>
        <p:blipFill>
          <a:blip r:embed="rId1"/>
          <a:stretch>
            <a:fillRect/>
          </a:stretch>
        </p:blipFill>
        <p:spPr>
          <a:xfrm>
            <a:off x="640080" y="1325880"/>
            <a:ext cx="2495346" cy="4572000"/>
          </a:xfrm>
          <a:prstGeom prst="rect">
            <a:avLst/>
          </a:prstGeom>
        </p:spPr>
      </p:pic>
      <p:sp>
        <p:nvSpPr>
          <p:cNvPr id="5" name="Workout logger on phone frame"/>
          <p:cNvSpPr/>
          <p:nvPr/>
        </p:nvSpPr>
        <p:spPr>
          <a:xfrm>
            <a:off x="3473754" y="1252728"/>
            <a:ext cx="2200037" cy="4718304"/>
          </a:xfrm>
          <a:prstGeom prst="roundRect">
            <a:avLst>
              <a:gd name="adj" fmla="val 4988"/>
            </a:avLst>
          </a:prstGeom>
          <a:solidFill>
            <a:schemeClr val="accent2"/>
          </a:solidFill>
          <a:ln w="12700">
            <a:solidFill>
              <a:schemeClr val="accent2"/>
            </a:solidFill>
            <a:prstDash val="solid"/>
          </a:ln>
          <a:effectLst>
            <a:outerShdw sx="100000" sy="100000" kx="0" ky="0" algn="bl" rotWithShape="0" blurRad="76200" dist="25400" dir="5400000">
              <a:srgbClr val="000000">
                <a:alpha val="18000"/>
              </a:srgbClr>
            </a:outerShdw>
          </a:effectLst>
        </p:spPr>
      </p:sp>
      <p:pic>
        <p:nvPicPr>
          <p:cNvPr id="6" name="Workout logger on phone" descr="Workout logger on phone">    </p:cNvPr>
          <p:cNvPicPr>
            <a:picLocks noChangeAspect="1"/>
          </p:cNvPicPr>
          <p:nvPr/>
        </p:nvPicPr>
        <p:blipFill>
          <a:blip r:embed="rId2"/>
          <a:stretch>
            <a:fillRect/>
          </a:stretch>
        </p:blipFill>
        <p:spPr>
          <a:xfrm>
            <a:off x="3546906" y="1325880"/>
            <a:ext cx="2053733" cy="4572000"/>
          </a:xfrm>
          <a:prstGeom prst="rect">
            <a:avLst/>
          </a:prstGeom>
        </p:spPr>
      </p:pic>
      <p:sp>
        <p:nvSpPr>
          <p:cNvPr id="7" name="Step 1 badge"/>
          <p:cNvSpPr/>
          <p:nvPr/>
        </p:nvSpPr>
        <p:spPr>
          <a:xfrm>
            <a:off x="6149279" y="1417320"/>
            <a:ext cx="411480" cy="411480"/>
          </a:xfrm>
          <a:prstGeom prst="ellipse">
            <a:avLst/>
          </a:prstGeom>
          <a:solidFill>
            <a:schemeClr val="accent2"/>
          </a:solidFill>
          <a:ln w="12700">
            <a:solidFill>
              <a:schemeClr val="accent2"/>
            </a:solidFill>
            <a:prstDash val="solid"/>
          </a:ln>
        </p:spPr>
      </p:sp>
      <p:sp>
        <p:nvSpPr>
          <p:cNvPr id="8" name="Step 1 badge label"/>
          <p:cNvSpPr txBox="1"/>
          <p:nvPr/>
        </p:nvSpPr>
        <p:spPr>
          <a:xfrm>
            <a:off x="6149279" y="141732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9" name="Text 5"/>
          <p:cNvSpPr txBox="1"/>
          <p:nvPr/>
        </p:nvSpPr>
        <p:spPr>
          <a:xfrm>
            <a:off x="6743639" y="1399032"/>
            <a:ext cx="4899416" cy="365760"/>
          </a:xfrm>
          <a:prstGeom prst="rect">
            <a:avLst/>
          </a:prstGeom>
          <a:noFill/>
          <a:ln/>
        </p:spPr>
        <p:txBody>
          <a:bodyPr wrap="square" lIns="0" tIns="0" rIns="0" bIns="0" rtlCol="0" anchor="ctr"/>
          <a:lstStyle/>
          <a:p>
            <a:pPr indent="0" marL="0">
              <a:buNone/>
            </a:pPr>
            <a:r>
              <a:rPr lang="en-US" sz="1700" b="1" dirty="0">
                <a:solidFill>
                  <a:schemeClr val="tx2"/>
                </a:solidFill>
              </a:rPr>
              <a:t>Home</a:t>
            </a:r>
            <a:endParaRPr lang="en-US" sz="1700" dirty="0"/>
          </a:p>
        </p:txBody>
      </p:sp>
      <p:sp>
        <p:nvSpPr>
          <p:cNvPr id="10" name="Text 6"/>
          <p:cNvSpPr txBox="1"/>
          <p:nvPr/>
        </p:nvSpPr>
        <p:spPr>
          <a:xfrm>
            <a:off x="6743639" y="1764792"/>
            <a:ext cx="4899416" cy="685800"/>
          </a:xfrm>
          <a:prstGeom prst="rect">
            <a:avLst/>
          </a:prstGeom>
          <a:noFill/>
          <a:ln/>
        </p:spPr>
        <p:txBody>
          <a:bodyPr wrap="square" lIns="0" tIns="0" rIns="0" bIns="0" rtlCol="0" anchor="t"/>
          <a:lstStyle/>
          <a:p>
            <a:pPr indent="0" marL="0">
              <a:buNone/>
            </a:pPr>
            <a:r>
              <a:rPr lang="en-US" sz="1400" dirty="0">
                <a:solidFill>
                  <a:schemeClr val="tx1"/>
                </a:solidFill>
              </a:rPr>
              <a:t>Two working features up top; planned ones marked "Not available yet".</a:t>
            </a:r>
            <a:endParaRPr lang="en-US" sz="1400" dirty="0"/>
          </a:p>
        </p:txBody>
      </p:sp>
      <p:sp>
        <p:nvSpPr>
          <p:cNvPr id="11" name="Step 2 badge"/>
          <p:cNvSpPr/>
          <p:nvPr/>
        </p:nvSpPr>
        <p:spPr>
          <a:xfrm>
            <a:off x="6149279" y="2532888"/>
            <a:ext cx="411480" cy="411480"/>
          </a:xfrm>
          <a:prstGeom prst="ellipse">
            <a:avLst/>
          </a:prstGeom>
          <a:solidFill>
            <a:schemeClr val="accent2"/>
          </a:solidFill>
          <a:ln w="12700">
            <a:solidFill>
              <a:schemeClr val="accent2"/>
            </a:solidFill>
            <a:prstDash val="solid"/>
          </a:ln>
        </p:spPr>
      </p:sp>
      <p:sp>
        <p:nvSpPr>
          <p:cNvPr id="12" name="Step 2 badge label"/>
          <p:cNvSpPr txBox="1"/>
          <p:nvPr/>
        </p:nvSpPr>
        <p:spPr>
          <a:xfrm>
            <a:off x="6149279" y="2532888"/>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3" name="Text 9"/>
          <p:cNvSpPr txBox="1"/>
          <p:nvPr/>
        </p:nvSpPr>
        <p:spPr>
          <a:xfrm>
            <a:off x="6743639" y="2514600"/>
            <a:ext cx="4899416" cy="365760"/>
          </a:xfrm>
          <a:prstGeom prst="rect">
            <a:avLst/>
          </a:prstGeom>
          <a:noFill/>
          <a:ln/>
        </p:spPr>
        <p:txBody>
          <a:bodyPr wrap="square" lIns="0" tIns="0" rIns="0" bIns="0" rtlCol="0" anchor="ctr"/>
          <a:lstStyle/>
          <a:p>
            <a:pPr indent="0" marL="0">
              <a:buNone/>
            </a:pPr>
            <a:r>
              <a:rPr lang="en-US" sz="1700" b="1" dirty="0">
                <a:solidFill>
                  <a:schemeClr val="tx2"/>
                </a:solidFill>
              </a:rPr>
              <a:t>Pick an exercise</a:t>
            </a:r>
            <a:endParaRPr lang="en-US" sz="1700" dirty="0"/>
          </a:p>
        </p:txBody>
      </p:sp>
      <p:sp>
        <p:nvSpPr>
          <p:cNvPr id="14" name="Text 10"/>
          <p:cNvSpPr txBox="1"/>
          <p:nvPr/>
        </p:nvSpPr>
        <p:spPr>
          <a:xfrm>
            <a:off x="6743639" y="2880360"/>
            <a:ext cx="4899416" cy="685800"/>
          </a:xfrm>
          <a:prstGeom prst="rect">
            <a:avLst/>
          </a:prstGeom>
          <a:noFill/>
          <a:ln/>
        </p:spPr>
        <p:txBody>
          <a:bodyPr wrap="square" lIns="0" tIns="0" rIns="0" bIns="0" rtlCol="0" anchor="t"/>
          <a:lstStyle/>
          <a:p>
            <a:pPr indent="0" marL="0">
              <a:buNone/>
            </a:pPr>
            <a:r>
              <a:rPr lang="en-US" sz="1400" dirty="0">
                <a:solidFill>
                  <a:schemeClr val="tx1"/>
                </a:solidFill>
              </a:rPr>
              <a:t>Searchable catalog, filtered by muscle group.</a:t>
            </a:r>
            <a:endParaRPr lang="en-US" sz="1400" dirty="0"/>
          </a:p>
        </p:txBody>
      </p:sp>
      <p:sp>
        <p:nvSpPr>
          <p:cNvPr id="15" name="Step 3 badge"/>
          <p:cNvSpPr/>
          <p:nvPr/>
        </p:nvSpPr>
        <p:spPr>
          <a:xfrm>
            <a:off x="6149279" y="3648456"/>
            <a:ext cx="411480" cy="411480"/>
          </a:xfrm>
          <a:prstGeom prst="ellipse">
            <a:avLst/>
          </a:prstGeom>
          <a:solidFill>
            <a:schemeClr val="accent2"/>
          </a:solidFill>
          <a:ln w="12700">
            <a:solidFill>
              <a:schemeClr val="accent2"/>
            </a:solidFill>
            <a:prstDash val="solid"/>
          </a:ln>
        </p:spPr>
      </p:sp>
      <p:sp>
        <p:nvSpPr>
          <p:cNvPr id="16" name="Step 3 badge label"/>
          <p:cNvSpPr txBox="1"/>
          <p:nvPr/>
        </p:nvSpPr>
        <p:spPr>
          <a:xfrm>
            <a:off x="6149279" y="3648456"/>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7" name="Text 13"/>
          <p:cNvSpPr txBox="1"/>
          <p:nvPr/>
        </p:nvSpPr>
        <p:spPr>
          <a:xfrm>
            <a:off x="6743639" y="3630168"/>
            <a:ext cx="4899416" cy="365760"/>
          </a:xfrm>
          <a:prstGeom prst="rect">
            <a:avLst/>
          </a:prstGeom>
          <a:noFill/>
          <a:ln/>
        </p:spPr>
        <p:txBody>
          <a:bodyPr wrap="square" lIns="0" tIns="0" rIns="0" bIns="0" rtlCol="0" anchor="ctr"/>
          <a:lstStyle/>
          <a:p>
            <a:pPr indent="0" marL="0">
              <a:buNone/>
            </a:pPr>
            <a:r>
              <a:rPr lang="en-US" sz="1700" b="1" dirty="0">
                <a:solidFill>
                  <a:schemeClr val="tx2"/>
                </a:solidFill>
              </a:rPr>
              <a:t>Log each set</a:t>
            </a:r>
            <a:endParaRPr lang="en-US" sz="1700" dirty="0"/>
          </a:p>
        </p:txBody>
      </p:sp>
      <p:sp>
        <p:nvSpPr>
          <p:cNvPr id="18" name="Text 14"/>
          <p:cNvSpPr txBox="1"/>
          <p:nvPr/>
        </p:nvSpPr>
        <p:spPr>
          <a:xfrm>
            <a:off x="6743639" y="3995928"/>
            <a:ext cx="4899416" cy="685800"/>
          </a:xfrm>
          <a:prstGeom prst="rect">
            <a:avLst/>
          </a:prstGeom>
          <a:noFill/>
          <a:ln/>
        </p:spPr>
        <p:txBody>
          <a:bodyPr wrap="square" lIns="0" tIns="0" rIns="0" bIns="0" rtlCol="0" anchor="t"/>
          <a:lstStyle/>
          <a:p>
            <a:pPr indent="0" marL="0">
              <a:buNone/>
            </a:pPr>
            <a:r>
              <a:rPr lang="en-US" sz="1400" dirty="0">
                <a:solidFill>
                  <a:schemeClr val="tx1"/>
                </a:solidFill>
              </a:rPr>
              <a:t>Weight (lb or kg), reps, set type, RPE or RIR.</a:t>
            </a:r>
            <a:endParaRPr lang="en-US" sz="1400" dirty="0"/>
          </a:p>
        </p:txBody>
      </p:sp>
      <p:sp>
        <p:nvSpPr>
          <p:cNvPr id="19" name="Step 4 badge"/>
          <p:cNvSpPr/>
          <p:nvPr/>
        </p:nvSpPr>
        <p:spPr>
          <a:xfrm>
            <a:off x="6149279" y="4764024"/>
            <a:ext cx="411480" cy="411480"/>
          </a:xfrm>
          <a:prstGeom prst="ellipse">
            <a:avLst/>
          </a:prstGeom>
          <a:solidFill>
            <a:schemeClr val="accent2"/>
          </a:solidFill>
          <a:ln w="12700">
            <a:solidFill>
              <a:schemeClr val="accent2"/>
            </a:solidFill>
            <a:prstDash val="solid"/>
          </a:ln>
        </p:spPr>
      </p:sp>
      <p:sp>
        <p:nvSpPr>
          <p:cNvPr id="20" name="Step 4 badge label"/>
          <p:cNvSpPr txBox="1"/>
          <p:nvPr/>
        </p:nvSpPr>
        <p:spPr>
          <a:xfrm>
            <a:off x="6149279" y="4764024"/>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21" name="Text 17"/>
          <p:cNvSpPr txBox="1"/>
          <p:nvPr/>
        </p:nvSpPr>
        <p:spPr>
          <a:xfrm>
            <a:off x="6743639" y="4745736"/>
            <a:ext cx="4899416" cy="365760"/>
          </a:xfrm>
          <a:prstGeom prst="rect">
            <a:avLst/>
          </a:prstGeom>
          <a:noFill/>
          <a:ln/>
        </p:spPr>
        <p:txBody>
          <a:bodyPr wrap="square" lIns="0" tIns="0" rIns="0" bIns="0" rtlCol="0" anchor="ctr"/>
          <a:lstStyle/>
          <a:p>
            <a:pPr indent="0" marL="0">
              <a:buNone/>
            </a:pPr>
            <a:r>
              <a:rPr lang="en-US" sz="1700" b="1" dirty="0">
                <a:solidFill>
                  <a:schemeClr val="tx2"/>
                </a:solidFill>
              </a:rPr>
              <a:t>Saved instantly</a:t>
            </a:r>
            <a:endParaRPr lang="en-US" sz="1700" dirty="0"/>
          </a:p>
        </p:txBody>
      </p:sp>
      <p:sp>
        <p:nvSpPr>
          <p:cNvPr id="22" name="Text 18"/>
          <p:cNvSpPr txBox="1"/>
          <p:nvPr/>
        </p:nvSpPr>
        <p:spPr>
          <a:xfrm>
            <a:off x="6743639" y="5111496"/>
            <a:ext cx="4899416" cy="685800"/>
          </a:xfrm>
          <a:prstGeom prst="rect">
            <a:avLst/>
          </a:prstGeom>
          <a:noFill/>
          <a:ln/>
        </p:spPr>
        <p:txBody>
          <a:bodyPr wrap="square" lIns="0" tIns="0" rIns="0" bIns="0" rtlCol="0" anchor="t"/>
          <a:lstStyle/>
          <a:p>
            <a:pPr indent="0" marL="0">
              <a:buNone/>
            </a:pPr>
            <a:r>
              <a:rPr lang="en-US" sz="1400" dirty="0">
                <a:solidFill>
                  <a:schemeClr val="tx1"/>
                </a:solidFill>
              </a:rPr>
              <a:t>Every set is a row in workout_logs; tap the bin to delete it.</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The 3D muscle map</a:t>
            </a:r>
            <a:endParaRPr lang="en-US" sz="3400" dirty="0"/>
          </a:p>
        </p:txBody>
      </p:sp>
      <p:sp>
        <p:nvSpPr>
          <p:cNvPr id="3" name="3D muscle map screenshot frame"/>
          <p:cNvSpPr/>
          <p:nvPr/>
        </p:nvSpPr>
        <p:spPr>
          <a:xfrm>
            <a:off x="548640" y="1344168"/>
            <a:ext cx="7735824" cy="3418959"/>
          </a:xfrm>
          <a:prstGeom prst="roundRect">
            <a:avLst>
              <a:gd name="adj" fmla="val 3209"/>
            </a:avLst>
          </a:prstGeom>
          <a:solidFill>
            <a:schemeClr val="accent2"/>
          </a:solidFill>
          <a:ln w="12700">
            <a:solidFill>
              <a:schemeClr val="accent2"/>
            </a:solidFill>
            <a:prstDash val="solid"/>
          </a:ln>
          <a:effectLst>
            <a:outerShdw sx="100000" sy="100000" kx="0" ky="0" algn="bl" rotWithShape="0" blurRad="76200" dist="25400" dir="5400000">
              <a:srgbClr val="000000">
                <a:alpha val="18000"/>
              </a:srgbClr>
            </a:outerShdw>
          </a:effectLst>
        </p:spPr>
      </p:sp>
      <p:pic>
        <p:nvPicPr>
          <p:cNvPr id="4" name="3D muscle map screenshot" descr="3D muscle map screenshot">    </p:cNvPr>
          <p:cNvPicPr>
            <a:picLocks noChangeAspect="1"/>
          </p:cNvPicPr>
          <p:nvPr/>
        </p:nvPicPr>
        <p:blipFill>
          <a:blip r:embed="rId1"/>
          <a:stretch>
            <a:fillRect/>
          </a:stretch>
        </p:blipFill>
        <p:spPr>
          <a:xfrm>
            <a:off x="621792" y="1417320"/>
            <a:ext cx="7589520" cy="3272655"/>
          </a:xfrm>
          <a:prstGeom prst="rect">
            <a:avLst/>
          </a:prstGeom>
        </p:spPr>
      </p:pic>
      <p:sp>
        <p:nvSpPr>
          <p:cNvPr id="5" name="Text 2"/>
          <p:cNvSpPr txBox="1"/>
          <p:nvPr/>
        </p:nvSpPr>
        <p:spPr>
          <a:xfrm>
            <a:off x="621792" y="4918575"/>
            <a:ext cx="7589520" cy="320040"/>
          </a:xfrm>
          <a:prstGeom prst="rect">
            <a:avLst/>
          </a:prstGeom>
          <a:noFill/>
          <a:ln/>
        </p:spPr>
        <p:txBody>
          <a:bodyPr wrap="square" lIns="0" tIns="0" rIns="0" bIns="0" rtlCol="0" anchor="ctr"/>
          <a:lstStyle/>
          <a:p>
            <a:pPr indent="0" marL="0">
              <a:buNone/>
            </a:pPr>
            <a:r>
              <a:rPr lang="en-US" sz="1200" i="1" dirty="0">
                <a:solidFill>
                  <a:schemeClr val="accent6"/>
                </a:solidFill>
              </a:rPr>
              <a:t>1-day window after one session: 6 groups well trained, 5 less trained, 5 untrained</a:t>
            </a:r>
            <a:endParaRPr lang="en-US" sz="1200" dirty="0"/>
          </a:p>
        </p:txBody>
      </p:sp>
      <p:sp>
        <p:nvSpPr>
          <p:cNvPr id="6" name="Green: well trained swatch"/>
          <p:cNvSpPr/>
          <p:nvPr/>
        </p:nvSpPr>
        <p:spPr>
          <a:xfrm>
            <a:off x="8641080" y="1508760"/>
            <a:ext cx="347472" cy="347472"/>
          </a:xfrm>
          <a:prstGeom prst="ellipse">
            <a:avLst/>
          </a:prstGeom>
          <a:solidFill>
            <a:schemeClr val="accent4"/>
          </a:solidFill>
          <a:ln w="9525">
            <a:solidFill>
              <a:schemeClr val="accent6"/>
            </a:solidFill>
            <a:prstDash val="solid"/>
          </a:ln>
        </p:spPr>
      </p:sp>
      <p:sp>
        <p:nvSpPr>
          <p:cNvPr id="7" name="Text 4"/>
          <p:cNvSpPr txBox="1"/>
          <p:nvPr/>
        </p:nvSpPr>
        <p:spPr>
          <a:xfrm>
            <a:off x="9144000" y="1463040"/>
            <a:ext cx="2499055" cy="365760"/>
          </a:xfrm>
          <a:prstGeom prst="rect">
            <a:avLst/>
          </a:prstGeom>
          <a:noFill/>
          <a:ln/>
        </p:spPr>
        <p:txBody>
          <a:bodyPr wrap="square" lIns="0" tIns="0" rIns="0" bIns="0" rtlCol="0" anchor="ctr"/>
          <a:lstStyle/>
          <a:p>
            <a:pPr indent="0" marL="0">
              <a:buNone/>
            </a:pPr>
            <a:r>
              <a:rPr lang="en-US" sz="1600" b="1" dirty="0">
                <a:solidFill>
                  <a:schemeClr val="tx1"/>
                </a:solidFill>
              </a:rPr>
              <a:t>Green: well trained</a:t>
            </a:r>
            <a:endParaRPr lang="en-US" sz="1600" dirty="0"/>
          </a:p>
        </p:txBody>
      </p:sp>
      <p:sp>
        <p:nvSpPr>
          <p:cNvPr id="8" name="Text 5"/>
          <p:cNvSpPr txBox="1"/>
          <p:nvPr/>
        </p:nvSpPr>
        <p:spPr>
          <a:xfrm>
            <a:off x="9144000" y="1828800"/>
            <a:ext cx="2499055" cy="320040"/>
          </a:xfrm>
          <a:prstGeom prst="rect">
            <a:avLst/>
          </a:prstGeom>
          <a:noFill/>
          <a:ln/>
        </p:spPr>
        <p:txBody>
          <a:bodyPr wrap="square" lIns="0" tIns="0" rIns="0" bIns="0" rtlCol="0" anchor="ctr"/>
          <a:lstStyle/>
          <a:p>
            <a:pPr indent="0" marL="0">
              <a:buNone/>
            </a:pPr>
            <a:r>
              <a:rPr lang="en-US" sz="1300" dirty="0">
                <a:solidFill>
                  <a:schemeClr val="accent6"/>
                </a:solidFill>
              </a:rPr>
              <a:t>At or above target sets</a:t>
            </a:r>
            <a:endParaRPr lang="en-US" sz="1300" dirty="0"/>
          </a:p>
        </p:txBody>
      </p:sp>
      <p:sp>
        <p:nvSpPr>
          <p:cNvPr id="9" name="Yellow: less trained swatch"/>
          <p:cNvSpPr/>
          <p:nvPr/>
        </p:nvSpPr>
        <p:spPr>
          <a:xfrm>
            <a:off x="8641080" y="2377440"/>
            <a:ext cx="347472" cy="347472"/>
          </a:xfrm>
          <a:prstGeom prst="ellipse">
            <a:avLst/>
          </a:prstGeom>
          <a:solidFill>
            <a:schemeClr val="accent3"/>
          </a:solidFill>
          <a:ln w="9525">
            <a:solidFill>
              <a:schemeClr val="accent6"/>
            </a:solidFill>
            <a:prstDash val="solid"/>
          </a:ln>
        </p:spPr>
      </p:sp>
      <p:sp>
        <p:nvSpPr>
          <p:cNvPr id="10" name="Text 7"/>
          <p:cNvSpPr txBox="1"/>
          <p:nvPr/>
        </p:nvSpPr>
        <p:spPr>
          <a:xfrm>
            <a:off x="9144000" y="2331720"/>
            <a:ext cx="2499055" cy="365760"/>
          </a:xfrm>
          <a:prstGeom prst="rect">
            <a:avLst/>
          </a:prstGeom>
          <a:noFill/>
          <a:ln/>
        </p:spPr>
        <p:txBody>
          <a:bodyPr wrap="square" lIns="0" tIns="0" rIns="0" bIns="0" rtlCol="0" anchor="ctr"/>
          <a:lstStyle/>
          <a:p>
            <a:pPr indent="0" marL="0">
              <a:buNone/>
            </a:pPr>
            <a:r>
              <a:rPr lang="en-US" sz="1600" b="1" dirty="0">
                <a:solidFill>
                  <a:schemeClr val="tx1"/>
                </a:solidFill>
              </a:rPr>
              <a:t>Yellow: less trained</a:t>
            </a:r>
            <a:endParaRPr lang="en-US" sz="1600" dirty="0"/>
          </a:p>
        </p:txBody>
      </p:sp>
      <p:sp>
        <p:nvSpPr>
          <p:cNvPr id="11" name="Text 8"/>
          <p:cNvSpPr txBox="1"/>
          <p:nvPr/>
        </p:nvSpPr>
        <p:spPr>
          <a:xfrm>
            <a:off x="9144000" y="2697480"/>
            <a:ext cx="2499055" cy="320040"/>
          </a:xfrm>
          <a:prstGeom prst="rect">
            <a:avLst/>
          </a:prstGeom>
          <a:noFill/>
          <a:ln/>
        </p:spPr>
        <p:txBody>
          <a:bodyPr wrap="square" lIns="0" tIns="0" rIns="0" bIns="0" rtlCol="0" anchor="ctr"/>
          <a:lstStyle/>
          <a:p>
            <a:pPr indent="0" marL="0">
              <a:buNone/>
            </a:pPr>
            <a:r>
              <a:rPr lang="en-US" sz="1300" dirty="0">
                <a:solidFill>
                  <a:schemeClr val="accent6"/>
                </a:solidFill>
              </a:rPr>
              <a:t>Some work, under target</a:t>
            </a:r>
            <a:endParaRPr lang="en-US" sz="1300" dirty="0"/>
          </a:p>
        </p:txBody>
      </p:sp>
      <p:sp>
        <p:nvSpPr>
          <p:cNvPr id="12" name="Red: untrained swatch"/>
          <p:cNvSpPr/>
          <p:nvPr/>
        </p:nvSpPr>
        <p:spPr>
          <a:xfrm>
            <a:off x="8641080" y="3246120"/>
            <a:ext cx="347472" cy="347472"/>
          </a:xfrm>
          <a:prstGeom prst="ellipse">
            <a:avLst/>
          </a:prstGeom>
          <a:solidFill>
            <a:schemeClr val="accent5"/>
          </a:solidFill>
          <a:ln w="9525">
            <a:solidFill>
              <a:schemeClr val="accent6"/>
            </a:solidFill>
            <a:prstDash val="solid"/>
          </a:ln>
        </p:spPr>
      </p:sp>
      <p:sp>
        <p:nvSpPr>
          <p:cNvPr id="13" name="Text 10"/>
          <p:cNvSpPr txBox="1"/>
          <p:nvPr/>
        </p:nvSpPr>
        <p:spPr>
          <a:xfrm>
            <a:off x="9144000" y="3200400"/>
            <a:ext cx="2499055" cy="365760"/>
          </a:xfrm>
          <a:prstGeom prst="rect">
            <a:avLst/>
          </a:prstGeom>
          <a:noFill/>
          <a:ln/>
        </p:spPr>
        <p:txBody>
          <a:bodyPr wrap="square" lIns="0" tIns="0" rIns="0" bIns="0" rtlCol="0" anchor="ctr"/>
          <a:lstStyle/>
          <a:p>
            <a:pPr indent="0" marL="0">
              <a:buNone/>
            </a:pPr>
            <a:r>
              <a:rPr lang="en-US" sz="1600" b="1" dirty="0">
                <a:solidFill>
                  <a:schemeClr val="tx1"/>
                </a:solidFill>
              </a:rPr>
              <a:t>Red: untrained</a:t>
            </a:r>
            <a:endParaRPr lang="en-US" sz="1600" dirty="0"/>
          </a:p>
        </p:txBody>
      </p:sp>
      <p:sp>
        <p:nvSpPr>
          <p:cNvPr id="14" name="Text 11"/>
          <p:cNvSpPr txBox="1"/>
          <p:nvPr/>
        </p:nvSpPr>
        <p:spPr>
          <a:xfrm>
            <a:off x="9144000" y="3566160"/>
            <a:ext cx="2499055" cy="320040"/>
          </a:xfrm>
          <a:prstGeom prst="rect">
            <a:avLst/>
          </a:prstGeom>
          <a:noFill/>
          <a:ln/>
        </p:spPr>
        <p:txBody>
          <a:bodyPr wrap="square" lIns="0" tIns="0" rIns="0" bIns="0" rtlCol="0" anchor="ctr"/>
          <a:lstStyle/>
          <a:p>
            <a:pPr indent="0" marL="0">
              <a:buNone/>
            </a:pPr>
            <a:r>
              <a:rPr lang="en-US" sz="1300" dirty="0">
                <a:solidFill>
                  <a:schemeClr val="accent6"/>
                </a:solidFill>
              </a:rPr>
              <a:t>No hard sets in the window</a:t>
            </a:r>
            <a:endParaRPr lang="en-US" sz="1300" dirty="0"/>
          </a:p>
        </p:txBody>
      </p:sp>
      <p:sp>
        <p:nvSpPr>
          <p:cNvPr id="15" name="Text 12"/>
          <p:cNvSpPr txBox="1"/>
          <p:nvPr/>
        </p:nvSpPr>
        <p:spPr>
          <a:xfrm>
            <a:off x="8641080" y="4206240"/>
            <a:ext cx="3001975" cy="1554480"/>
          </a:xfrm>
          <a:prstGeom prst="rect">
            <a:avLst/>
          </a:prstGeom>
          <a:noFill/>
          <a:ln/>
        </p:spPr>
        <p:txBody>
          <a:bodyPr wrap="square" lIns="0" tIns="0" rIns="0" bIns="0" rtlCol="0" anchor="t"/>
          <a:lstStyle/>
          <a:p>
            <a:pPr indent="0" marL="0">
              <a:spcAft>
                <a:spcPts val="600"/>
              </a:spcAft>
              <a:buNone/>
            </a:pPr>
            <a:r>
              <a:rPr lang="en-US" sz="1300" b="1" dirty="0">
                <a:solidFill>
                  <a:schemeClr val="tx1"/>
                </a:solidFill>
              </a:rPr>
              <a:t>Target: </a:t>
            </a:r>
            <a:pPr indent="0" marL="0">
              <a:spcAft>
                <a:spcPts val="600"/>
              </a:spcAft>
              <a:buNone/>
            </a:pPr>
            <a:r>
              <a:rPr lang="en-US" sz="1300" dirty="0">
                <a:solidFill>
                  <a:schemeClr val="tx1"/>
                </a:solidFill>
              </a:rPr>
              <a:t>10 hard sets a week, scaled to the window length, minimum 3.</a:t>
            </a:r>
            <a:endParaRPr lang="en-US" sz="1300" dirty="0"/>
          </a:p>
          <a:p>
            <a:pPr indent="0" marL="0">
              <a:spcAft>
                <a:spcPts val="600"/>
              </a:spcAft>
              <a:buNone/>
            </a:pPr>
            <a:r>
              <a:rPr lang="en-US" sz="1300" b="1" dirty="0">
                <a:solidFill>
                  <a:schemeClr val="tx1"/>
                </a:solidFill>
              </a:rPr>
              <a:t>Counting: </a:t>
            </a:r>
            <a:pPr indent="0" marL="0">
              <a:spcAft>
                <a:spcPts val="600"/>
              </a:spcAft>
              <a:buNone/>
            </a:pPr>
            <a:r>
              <a:rPr lang="en-US" sz="1300" dirty="0">
                <a:solidFill>
                  <a:schemeClr val="tx1"/>
                </a:solidFill>
              </a:rPr>
              <a:t>warm-ups skipped; helper muscles count half a set.</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What works right now</a:t>
            </a:r>
            <a:endParaRPr lang="en-US" sz="3400" dirty="0"/>
          </a:p>
        </p:txBody>
      </p:sp>
      <p:sp>
        <p:nvSpPr>
          <p:cNvPr id="3" name="Stat 209"/>
          <p:cNvSpPr/>
          <p:nvPr/>
        </p:nvSpPr>
        <p:spPr>
          <a:xfrm>
            <a:off x="548640" y="1371600"/>
            <a:ext cx="2606040" cy="1508760"/>
          </a:xfrm>
          <a:prstGeom prst="roundRect">
            <a:avLst>
              <a:gd name="adj" fmla="val 9091"/>
            </a:avLst>
          </a:prstGeom>
          <a:solidFill>
            <a:schemeClr val="tx2"/>
          </a:solidFill>
          <a:ln w="12700">
            <a:solidFill>
              <a:schemeClr val="tx2"/>
            </a:solidFill>
            <a:prstDash val="solid"/>
          </a:ln>
        </p:spPr>
      </p:sp>
      <p:sp>
        <p:nvSpPr>
          <p:cNvPr id="4" name="Text 2"/>
          <p:cNvSpPr txBox="1"/>
          <p:nvPr/>
        </p:nvSpPr>
        <p:spPr>
          <a:xfrm>
            <a:off x="548640" y="1463040"/>
            <a:ext cx="2606040" cy="868680"/>
          </a:xfrm>
          <a:prstGeom prst="rect">
            <a:avLst/>
          </a:prstGeom>
          <a:noFill/>
          <a:ln/>
        </p:spPr>
        <p:txBody>
          <a:bodyPr wrap="square" lIns="0" tIns="0" rIns="0" bIns="0" rtlCol="0" anchor="ctr"/>
          <a:lstStyle/>
          <a:p>
            <a:pPr algn="ctr" indent="0" marL="0">
              <a:buNone/>
            </a:pPr>
            <a:r>
              <a:rPr lang="en-US" sz="4800" b="1" dirty="0">
                <a:solidFill>
                  <a:schemeClr val="accent3"/>
                </a:solidFill>
              </a:rPr>
              <a:t>209</a:t>
            </a:r>
            <a:endParaRPr lang="en-US" sz="4800" dirty="0"/>
          </a:p>
        </p:txBody>
      </p:sp>
      <p:sp>
        <p:nvSpPr>
          <p:cNvPr id="5" name="Text 3"/>
          <p:cNvSpPr txBox="1"/>
          <p:nvPr/>
        </p:nvSpPr>
        <p:spPr>
          <a:xfrm>
            <a:off x="685800" y="2331720"/>
            <a:ext cx="2331720" cy="411480"/>
          </a:xfrm>
          <a:prstGeom prst="rect">
            <a:avLst/>
          </a:prstGeom>
          <a:noFill/>
          <a:ln/>
        </p:spPr>
        <p:txBody>
          <a:bodyPr wrap="square" lIns="0" tIns="0" rIns="0" bIns="0" rtlCol="0" anchor="ctr"/>
          <a:lstStyle/>
          <a:p>
            <a:pPr algn="ctr" indent="0" marL="0">
              <a:buNone/>
            </a:pPr>
            <a:r>
              <a:rPr lang="en-US" sz="1300" dirty="0">
                <a:solidFill>
                  <a:schemeClr val="bg1"/>
                </a:solidFill>
              </a:rPr>
              <a:t>automated tests passing</a:t>
            </a:r>
            <a:endParaRPr lang="en-US" sz="1300" dirty="0"/>
          </a:p>
        </p:txBody>
      </p:sp>
      <p:sp>
        <p:nvSpPr>
          <p:cNvPr id="6" name="Stat 76"/>
          <p:cNvSpPr/>
          <p:nvPr/>
        </p:nvSpPr>
        <p:spPr>
          <a:xfrm>
            <a:off x="3367735" y="1371600"/>
            <a:ext cx="2606040" cy="1508760"/>
          </a:xfrm>
          <a:prstGeom prst="roundRect">
            <a:avLst>
              <a:gd name="adj" fmla="val 9091"/>
            </a:avLst>
          </a:prstGeom>
          <a:solidFill>
            <a:schemeClr val="tx2"/>
          </a:solidFill>
          <a:ln w="12700">
            <a:solidFill>
              <a:schemeClr val="tx2"/>
            </a:solidFill>
            <a:prstDash val="solid"/>
          </a:ln>
        </p:spPr>
      </p:sp>
      <p:sp>
        <p:nvSpPr>
          <p:cNvPr id="7" name="Text 5"/>
          <p:cNvSpPr txBox="1"/>
          <p:nvPr/>
        </p:nvSpPr>
        <p:spPr>
          <a:xfrm>
            <a:off x="3367735" y="1463040"/>
            <a:ext cx="2606040" cy="868680"/>
          </a:xfrm>
          <a:prstGeom prst="rect">
            <a:avLst/>
          </a:prstGeom>
          <a:noFill/>
          <a:ln/>
        </p:spPr>
        <p:txBody>
          <a:bodyPr wrap="square" lIns="0" tIns="0" rIns="0" bIns="0" rtlCol="0" anchor="ctr"/>
          <a:lstStyle/>
          <a:p>
            <a:pPr algn="ctr" indent="0" marL="0">
              <a:buNone/>
            </a:pPr>
            <a:r>
              <a:rPr lang="en-US" sz="4800" b="1" dirty="0">
                <a:solidFill>
                  <a:schemeClr val="accent3"/>
                </a:solidFill>
              </a:rPr>
              <a:t>76</a:t>
            </a:r>
            <a:endParaRPr lang="en-US" sz="4800" dirty="0"/>
          </a:p>
        </p:txBody>
      </p:sp>
      <p:sp>
        <p:nvSpPr>
          <p:cNvPr id="8" name="Text 6"/>
          <p:cNvSpPr txBox="1"/>
          <p:nvPr/>
        </p:nvSpPr>
        <p:spPr>
          <a:xfrm>
            <a:off x="3504895" y="2331720"/>
            <a:ext cx="2331720" cy="411480"/>
          </a:xfrm>
          <a:prstGeom prst="rect">
            <a:avLst/>
          </a:prstGeom>
          <a:noFill/>
          <a:ln/>
        </p:spPr>
        <p:txBody>
          <a:bodyPr wrap="square" lIns="0" tIns="0" rIns="0" bIns="0" rtlCol="0" anchor="ctr"/>
          <a:lstStyle/>
          <a:p>
            <a:pPr algn="ctr" indent="0" marL="0">
              <a:buNone/>
            </a:pPr>
            <a:r>
              <a:rPr lang="en-US" sz="1300" dirty="0">
                <a:solidFill>
                  <a:schemeClr val="bg1"/>
                </a:solidFill>
              </a:rPr>
              <a:t>exercises in the catalog</a:t>
            </a:r>
            <a:endParaRPr lang="en-US" sz="1300" dirty="0"/>
          </a:p>
        </p:txBody>
      </p:sp>
      <p:sp>
        <p:nvSpPr>
          <p:cNvPr id="9" name="Stat 29"/>
          <p:cNvSpPr/>
          <p:nvPr/>
        </p:nvSpPr>
        <p:spPr>
          <a:xfrm>
            <a:off x="6186830" y="1371600"/>
            <a:ext cx="2606040" cy="1508760"/>
          </a:xfrm>
          <a:prstGeom prst="roundRect">
            <a:avLst>
              <a:gd name="adj" fmla="val 9091"/>
            </a:avLst>
          </a:prstGeom>
          <a:solidFill>
            <a:schemeClr val="tx2"/>
          </a:solidFill>
          <a:ln w="12700">
            <a:solidFill>
              <a:schemeClr val="tx2"/>
            </a:solidFill>
            <a:prstDash val="solid"/>
          </a:ln>
        </p:spPr>
      </p:sp>
      <p:sp>
        <p:nvSpPr>
          <p:cNvPr id="10" name="Text 8"/>
          <p:cNvSpPr txBox="1"/>
          <p:nvPr/>
        </p:nvSpPr>
        <p:spPr>
          <a:xfrm>
            <a:off x="6186830" y="1463040"/>
            <a:ext cx="2606040" cy="868680"/>
          </a:xfrm>
          <a:prstGeom prst="rect">
            <a:avLst/>
          </a:prstGeom>
          <a:noFill/>
          <a:ln/>
        </p:spPr>
        <p:txBody>
          <a:bodyPr wrap="square" lIns="0" tIns="0" rIns="0" bIns="0" rtlCol="0" anchor="ctr"/>
          <a:lstStyle/>
          <a:p>
            <a:pPr algn="ctr" indent="0" marL="0">
              <a:buNone/>
            </a:pPr>
            <a:r>
              <a:rPr lang="en-US" sz="4800" b="1" dirty="0">
                <a:solidFill>
                  <a:schemeClr val="accent3"/>
                </a:solidFill>
              </a:rPr>
              <a:t>29</a:t>
            </a:r>
            <a:endParaRPr lang="en-US" sz="4800" dirty="0"/>
          </a:p>
        </p:txBody>
      </p:sp>
      <p:sp>
        <p:nvSpPr>
          <p:cNvPr id="11" name="Text 9"/>
          <p:cNvSpPr txBox="1"/>
          <p:nvPr/>
        </p:nvSpPr>
        <p:spPr>
          <a:xfrm>
            <a:off x="6323990" y="2331720"/>
            <a:ext cx="2331720" cy="411480"/>
          </a:xfrm>
          <a:prstGeom prst="rect">
            <a:avLst/>
          </a:prstGeom>
          <a:noFill/>
          <a:ln/>
        </p:spPr>
        <p:txBody>
          <a:bodyPr wrap="square" lIns="0" tIns="0" rIns="0" bIns="0" rtlCol="0" anchor="ctr"/>
          <a:lstStyle/>
          <a:p>
            <a:pPr algn="ctr" indent="0" marL="0">
              <a:buNone/>
            </a:pPr>
            <a:r>
              <a:rPr lang="en-US" sz="1300" dirty="0">
                <a:solidFill>
                  <a:schemeClr val="bg1"/>
                </a:solidFill>
              </a:rPr>
              <a:t>equipment rows (14 are demo)</a:t>
            </a:r>
            <a:endParaRPr lang="en-US" sz="1300" dirty="0"/>
          </a:p>
        </p:txBody>
      </p:sp>
      <p:sp>
        <p:nvSpPr>
          <p:cNvPr id="12" name="Stat 16"/>
          <p:cNvSpPr/>
          <p:nvPr/>
        </p:nvSpPr>
        <p:spPr>
          <a:xfrm>
            <a:off x="9005926" y="1371600"/>
            <a:ext cx="2606040" cy="1508760"/>
          </a:xfrm>
          <a:prstGeom prst="roundRect">
            <a:avLst>
              <a:gd name="adj" fmla="val 9091"/>
            </a:avLst>
          </a:prstGeom>
          <a:solidFill>
            <a:schemeClr val="tx2"/>
          </a:solidFill>
          <a:ln w="12700">
            <a:solidFill>
              <a:schemeClr val="tx2"/>
            </a:solidFill>
            <a:prstDash val="solid"/>
          </a:ln>
        </p:spPr>
      </p:sp>
      <p:sp>
        <p:nvSpPr>
          <p:cNvPr id="13" name="Text 11"/>
          <p:cNvSpPr txBox="1"/>
          <p:nvPr/>
        </p:nvSpPr>
        <p:spPr>
          <a:xfrm>
            <a:off x="9005926" y="1463040"/>
            <a:ext cx="2606040" cy="868680"/>
          </a:xfrm>
          <a:prstGeom prst="rect">
            <a:avLst/>
          </a:prstGeom>
          <a:noFill/>
          <a:ln/>
        </p:spPr>
        <p:txBody>
          <a:bodyPr wrap="square" lIns="0" tIns="0" rIns="0" bIns="0" rtlCol="0" anchor="ctr"/>
          <a:lstStyle/>
          <a:p>
            <a:pPr algn="ctr" indent="0" marL="0">
              <a:buNone/>
            </a:pPr>
            <a:r>
              <a:rPr lang="en-US" sz="4800" b="1" dirty="0">
                <a:solidFill>
                  <a:schemeClr val="accent3"/>
                </a:solidFill>
              </a:rPr>
              <a:t>16</a:t>
            </a:r>
            <a:endParaRPr lang="en-US" sz="4800" dirty="0"/>
          </a:p>
        </p:txBody>
      </p:sp>
      <p:sp>
        <p:nvSpPr>
          <p:cNvPr id="14" name="Text 12"/>
          <p:cNvSpPr txBox="1"/>
          <p:nvPr/>
        </p:nvSpPr>
        <p:spPr>
          <a:xfrm>
            <a:off x="9143086" y="2331720"/>
            <a:ext cx="2331720" cy="411480"/>
          </a:xfrm>
          <a:prstGeom prst="rect">
            <a:avLst/>
          </a:prstGeom>
          <a:noFill/>
          <a:ln/>
        </p:spPr>
        <p:txBody>
          <a:bodyPr wrap="square" lIns="0" tIns="0" rIns="0" bIns="0" rtlCol="0" anchor="ctr"/>
          <a:lstStyle/>
          <a:p>
            <a:pPr algn="ctr" indent="0" marL="0">
              <a:buNone/>
            </a:pPr>
            <a:r>
              <a:rPr lang="en-US" sz="1300" dirty="0">
                <a:solidFill>
                  <a:schemeClr val="bg1"/>
                </a:solidFill>
              </a:rPr>
              <a:t>muscle groups on the 3D map</a:t>
            </a:r>
            <a:endParaRPr lang="en-US" sz="1300" dirty="0"/>
          </a:p>
        </p:txBody>
      </p:sp>
      <p:sp>
        <p:nvSpPr>
          <p:cNvPr id="15" name="Done list 1"/>
          <p:cNvSpPr txBox="1"/>
          <p:nvPr/>
        </p:nvSpPr>
        <p:spPr>
          <a:xfrm>
            <a:off x="548640" y="3337560"/>
            <a:ext cx="5394960" cy="237744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chemeClr val="tx1"/>
                </a:solidFill>
              </a:rPr>
              <a:t>Sign up, sign in, sign out (email + password)</a:t>
            </a:r>
            <a:endParaRPr lang="en-US" sz="1600" dirty="0"/>
          </a:p>
          <a:p>
            <a:pPr marL="342900" indent="-342900">
              <a:spcAft>
                <a:spcPts val="1600"/>
              </a:spcAft>
              <a:buSzPct val="100000"/>
              <a:buChar char="✔"/>
            </a:pPr>
            <a:r>
              <a:rPr lang="en-US" sz="1600" dirty="0">
                <a:solidFill>
                  <a:schemeClr val="tx1"/>
                </a:solidFill>
              </a:rPr>
              <a:t>Landing and home screens, light + dark green/gold theme</a:t>
            </a:r>
            <a:endParaRPr lang="en-US" sz="1600" dirty="0"/>
          </a:p>
          <a:p>
            <a:pPr marL="342900" indent="-342900">
              <a:spcAft>
                <a:spcPts val="1600"/>
              </a:spcAft>
              <a:buSzPct val="100000"/>
              <a:buChar char="✔"/>
            </a:pPr>
            <a:r>
              <a:rPr lang="en-US" sz="1600" dirty="0">
                <a:solidFill>
                  <a:schemeClr val="tx1"/>
                </a:solidFill>
              </a:rPr>
              <a:t>Log a workout: pick exercises, log weight, reps, set type, RPE/RIR</a:t>
            </a:r>
            <a:endParaRPr lang="en-US" sz="1600" dirty="0"/>
          </a:p>
        </p:txBody>
      </p:sp>
      <p:sp>
        <p:nvSpPr>
          <p:cNvPr id="16" name="Done list 2"/>
          <p:cNvSpPr txBox="1"/>
          <p:nvPr/>
        </p:nvSpPr>
        <p:spPr>
          <a:xfrm>
            <a:off x="6217920" y="3337560"/>
            <a:ext cx="5394960" cy="237744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chemeClr val="tx1"/>
                </a:solidFill>
              </a:rPr>
              <a:t>3D muscle map with a 1–30 day window</a:t>
            </a:r>
            <a:endParaRPr lang="en-US" sz="1600" dirty="0"/>
          </a:p>
          <a:p>
            <a:pPr marL="342900" indent="-342900">
              <a:spcAft>
                <a:spcPts val="1600"/>
              </a:spcAft>
              <a:buSzPct val="100000"/>
              <a:buChar char="✔"/>
            </a:pPr>
            <a:r>
              <a:rPr lang="en-US" sz="1600" dirty="0">
                <a:solidFill>
                  <a:schemeClr val="tx1"/>
                </a:solidFill>
              </a:rPr>
              <a:t>Database live: 8 migrations, RLS on every user table</a:t>
            </a:r>
            <a:endParaRPr lang="en-US" sz="1600" dirty="0"/>
          </a:p>
          <a:p>
            <a:pPr marL="342900" indent="-342900">
              <a:spcAft>
                <a:spcPts val="1600"/>
              </a:spcAft>
              <a:buSzPct val="100000"/>
              <a:buChar char="✔"/>
            </a:pPr>
            <a:r>
              <a:rPr lang="en-US" sz="1600" dirty="0">
                <a:solidFill>
                  <a:schemeClr val="tx1"/>
                </a:solidFill>
              </a:rPr>
              <a:t>Training math: e1RM, volume, next-load progression (tested, not yet on screen)</a:t>
            </a:r>
            <a:endParaRPr lang="en-US" sz="1600" dirty="0"/>
          </a:p>
        </p:txBody>
      </p:sp>
      <p:sp>
        <p:nvSpPr>
          <p:cNvPr id="17" name="Text 15"/>
          <p:cNvSpPr txBox="1"/>
          <p:nvPr/>
        </p:nvSpPr>
        <p:spPr>
          <a:xfrm>
            <a:off x="548640" y="5760720"/>
            <a:ext cx="11064240" cy="365760"/>
          </a:xfrm>
          <a:prstGeom prst="rect">
            <a:avLst/>
          </a:prstGeom>
          <a:noFill/>
          <a:ln/>
        </p:spPr>
        <p:txBody>
          <a:bodyPr wrap="square" lIns="0" tIns="0" rIns="0" bIns="0" rtlCol="0" anchor="ctr"/>
          <a:lstStyle/>
          <a:p>
            <a:pPr indent="0" marL="0">
              <a:buNone/>
            </a:pPr>
            <a:r>
              <a:rPr lang="en-US" sz="1200" i="1" dirty="0">
                <a:solidFill>
                  <a:schemeClr val="accent6"/>
                </a:solidFill>
              </a:rPr>
              <a:t>Equipment is partly placeholder data until the Rec Center floor walk; demo rows are tagged "DEMO".</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What is still to come</a:t>
            </a:r>
            <a:endParaRPr lang="en-US" sz="3400" dirty="0"/>
          </a:p>
        </p:txBody>
      </p:sp>
      <p:sp>
        <p:nvSpPr>
          <p:cNvPr id="3" name="Next 1"/>
          <p:cNvSpPr/>
          <p:nvPr/>
        </p:nvSpPr>
        <p:spPr>
          <a:xfrm>
            <a:off x="548640" y="1325880"/>
            <a:ext cx="2606040" cy="2148840"/>
          </a:xfrm>
          <a:prstGeom prst="roundRect">
            <a:avLst>
              <a:gd name="adj" fmla="val 6383"/>
            </a:avLst>
          </a:prstGeom>
          <a:solidFill>
            <a:schemeClr val="bg2"/>
          </a:solidFill>
          <a:ln w="12700">
            <a:solidFill>
              <a:schemeClr val="bg2"/>
            </a:solidFill>
            <a:prstDash val="solid"/>
          </a:ln>
        </p:spPr>
      </p:sp>
      <p:sp>
        <p:nvSpPr>
          <p:cNvPr id="4" name="Next 1 badge"/>
          <p:cNvSpPr/>
          <p:nvPr/>
        </p:nvSpPr>
        <p:spPr>
          <a:xfrm>
            <a:off x="777240" y="1554480"/>
            <a:ext cx="411480" cy="411480"/>
          </a:xfrm>
          <a:prstGeom prst="ellipse">
            <a:avLst/>
          </a:prstGeom>
          <a:solidFill>
            <a:schemeClr val="accent2"/>
          </a:solidFill>
          <a:ln w="12700">
            <a:solidFill>
              <a:schemeClr val="accent2"/>
            </a:solidFill>
            <a:prstDash val="solid"/>
          </a:ln>
        </p:spPr>
      </p:sp>
      <p:sp>
        <p:nvSpPr>
          <p:cNvPr id="5" name="Next 1 badge label"/>
          <p:cNvSpPr txBox="1"/>
          <p:nvPr/>
        </p:nvSpPr>
        <p:spPr>
          <a:xfrm>
            <a:off x="777240" y="155448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6" name="Text 4"/>
          <p:cNvSpPr txBox="1"/>
          <p:nvPr/>
        </p:nvSpPr>
        <p:spPr>
          <a:xfrm>
            <a:off x="777240" y="210312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Verify the gym</a:t>
            </a:r>
            <a:endParaRPr lang="en-US" sz="1700" dirty="0"/>
          </a:p>
        </p:txBody>
      </p:sp>
      <p:sp>
        <p:nvSpPr>
          <p:cNvPr id="7" name="Text 5"/>
          <p:cNvSpPr txBox="1"/>
          <p:nvPr/>
        </p:nvSpPr>
        <p:spPr>
          <a:xfrm>
            <a:off x="777240" y="2514600"/>
            <a:ext cx="2148840" cy="868680"/>
          </a:xfrm>
          <a:prstGeom prst="rect">
            <a:avLst/>
          </a:prstGeom>
          <a:noFill/>
          <a:ln/>
        </p:spPr>
        <p:txBody>
          <a:bodyPr wrap="square" lIns="0" tIns="0" rIns="0" bIns="0" rtlCol="0" anchor="t"/>
          <a:lstStyle/>
          <a:p>
            <a:pPr indent="0" marL="0">
              <a:buNone/>
            </a:pPr>
            <a:r>
              <a:rPr lang="en-US" sz="1300" dirty="0">
                <a:solidFill>
                  <a:schemeClr val="tx1"/>
                </a:solidFill>
              </a:rPr>
              <a:t>Floor walk at Pennington; replace demo equipment with real counts</a:t>
            </a:r>
            <a:endParaRPr lang="en-US" sz="1300" dirty="0"/>
          </a:p>
        </p:txBody>
      </p:sp>
      <p:sp>
        <p:nvSpPr>
          <p:cNvPr id="8" name="Next 2"/>
          <p:cNvSpPr/>
          <p:nvPr/>
        </p:nvSpPr>
        <p:spPr>
          <a:xfrm>
            <a:off x="3367735" y="1325880"/>
            <a:ext cx="2606040" cy="2148840"/>
          </a:xfrm>
          <a:prstGeom prst="roundRect">
            <a:avLst>
              <a:gd name="adj" fmla="val 6383"/>
            </a:avLst>
          </a:prstGeom>
          <a:solidFill>
            <a:schemeClr val="bg2"/>
          </a:solidFill>
          <a:ln w="12700">
            <a:solidFill>
              <a:schemeClr val="bg2"/>
            </a:solidFill>
            <a:prstDash val="solid"/>
          </a:ln>
        </p:spPr>
      </p:sp>
      <p:sp>
        <p:nvSpPr>
          <p:cNvPr id="9" name="Next 2 badge"/>
          <p:cNvSpPr/>
          <p:nvPr/>
        </p:nvSpPr>
        <p:spPr>
          <a:xfrm>
            <a:off x="3596335" y="1554480"/>
            <a:ext cx="411480" cy="411480"/>
          </a:xfrm>
          <a:prstGeom prst="ellipse">
            <a:avLst/>
          </a:prstGeom>
          <a:solidFill>
            <a:schemeClr val="accent2"/>
          </a:solidFill>
          <a:ln w="12700">
            <a:solidFill>
              <a:schemeClr val="accent2"/>
            </a:solidFill>
            <a:prstDash val="solid"/>
          </a:ln>
        </p:spPr>
      </p:sp>
      <p:sp>
        <p:nvSpPr>
          <p:cNvPr id="10" name="Next 2 badge label"/>
          <p:cNvSpPr txBox="1"/>
          <p:nvPr/>
        </p:nvSpPr>
        <p:spPr>
          <a:xfrm>
            <a:off x="3596335" y="155448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1" name="Text 9"/>
          <p:cNvSpPr txBox="1"/>
          <p:nvPr/>
        </p:nvSpPr>
        <p:spPr>
          <a:xfrm>
            <a:off x="3596335" y="210312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Plan generator</a:t>
            </a:r>
            <a:endParaRPr lang="en-US" sz="1700" dirty="0"/>
          </a:p>
        </p:txBody>
      </p:sp>
      <p:sp>
        <p:nvSpPr>
          <p:cNvPr id="12" name="Text 10"/>
          <p:cNvSpPr txBox="1"/>
          <p:nvPr/>
        </p:nvSpPr>
        <p:spPr>
          <a:xfrm>
            <a:off x="3596335" y="2514600"/>
            <a:ext cx="2148840" cy="868680"/>
          </a:xfrm>
          <a:prstGeom prst="rect">
            <a:avLst/>
          </a:prstGeom>
          <a:noFill/>
          <a:ln/>
        </p:spPr>
        <p:txBody>
          <a:bodyPr wrap="square" lIns="0" tIns="0" rIns="0" bIns="0" rtlCol="0" anchor="t"/>
          <a:lstStyle/>
          <a:p>
            <a:pPr indent="0" marL="0">
              <a:buNone/>
            </a:pPr>
            <a:r>
              <a:rPr lang="en-US" sz="1300" dirty="0">
                <a:solidFill>
                  <a:schemeClr val="tx1"/>
                </a:solidFill>
              </a:rPr>
              <a:t>3–7 day weekly plans by goal, varied every 1–2 weeks</a:t>
            </a:r>
            <a:endParaRPr lang="en-US" sz="1300" dirty="0"/>
          </a:p>
        </p:txBody>
      </p:sp>
      <p:sp>
        <p:nvSpPr>
          <p:cNvPr id="13" name="Next 3"/>
          <p:cNvSpPr/>
          <p:nvPr/>
        </p:nvSpPr>
        <p:spPr>
          <a:xfrm>
            <a:off x="6186830" y="1325880"/>
            <a:ext cx="2606040" cy="2148840"/>
          </a:xfrm>
          <a:prstGeom prst="roundRect">
            <a:avLst>
              <a:gd name="adj" fmla="val 6383"/>
            </a:avLst>
          </a:prstGeom>
          <a:solidFill>
            <a:schemeClr val="bg2"/>
          </a:solidFill>
          <a:ln w="12700">
            <a:solidFill>
              <a:schemeClr val="bg2"/>
            </a:solidFill>
            <a:prstDash val="solid"/>
          </a:ln>
        </p:spPr>
      </p:sp>
      <p:sp>
        <p:nvSpPr>
          <p:cNvPr id="14" name="Next 3 badge"/>
          <p:cNvSpPr/>
          <p:nvPr/>
        </p:nvSpPr>
        <p:spPr>
          <a:xfrm>
            <a:off x="6415430" y="1554480"/>
            <a:ext cx="411480" cy="411480"/>
          </a:xfrm>
          <a:prstGeom prst="ellipse">
            <a:avLst/>
          </a:prstGeom>
          <a:solidFill>
            <a:schemeClr val="accent2"/>
          </a:solidFill>
          <a:ln w="12700">
            <a:solidFill>
              <a:schemeClr val="accent2"/>
            </a:solidFill>
            <a:prstDash val="solid"/>
          </a:ln>
        </p:spPr>
      </p:sp>
      <p:sp>
        <p:nvSpPr>
          <p:cNvPr id="15" name="Next 3 badge label"/>
          <p:cNvSpPr txBox="1"/>
          <p:nvPr/>
        </p:nvSpPr>
        <p:spPr>
          <a:xfrm>
            <a:off x="6415430" y="155448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6" name="Text 14"/>
          <p:cNvSpPr txBox="1"/>
          <p:nvPr/>
        </p:nvSpPr>
        <p:spPr>
          <a:xfrm>
            <a:off x="6415430" y="210312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Load suggestions</a:t>
            </a:r>
            <a:endParaRPr lang="en-US" sz="1700" dirty="0"/>
          </a:p>
        </p:txBody>
      </p:sp>
      <p:sp>
        <p:nvSpPr>
          <p:cNvPr id="17" name="Text 15"/>
          <p:cNvSpPr txBox="1"/>
          <p:nvPr/>
        </p:nvSpPr>
        <p:spPr>
          <a:xfrm>
            <a:off x="6415430" y="2514600"/>
            <a:ext cx="2148840" cy="868680"/>
          </a:xfrm>
          <a:prstGeom prst="rect">
            <a:avLst/>
          </a:prstGeom>
          <a:noFill/>
          <a:ln/>
        </p:spPr>
        <p:txBody>
          <a:bodyPr wrap="square" lIns="0" tIns="0" rIns="0" bIns="0" rtlCol="0" anchor="t"/>
          <a:lstStyle/>
          <a:p>
            <a:pPr indent="0" marL="0">
              <a:buNone/>
            </a:pPr>
            <a:r>
              <a:rPr lang="en-US" sz="1300" dirty="0">
                <a:solidFill>
                  <a:schemeClr val="tx1"/>
                </a:solidFill>
              </a:rPr>
              <a:t>Show the next-weight recommendation on the logger</a:t>
            </a:r>
            <a:endParaRPr lang="en-US" sz="1300" dirty="0"/>
          </a:p>
        </p:txBody>
      </p:sp>
      <p:sp>
        <p:nvSpPr>
          <p:cNvPr id="18" name="Next 4"/>
          <p:cNvSpPr/>
          <p:nvPr/>
        </p:nvSpPr>
        <p:spPr>
          <a:xfrm>
            <a:off x="9005926" y="1325880"/>
            <a:ext cx="2606040" cy="2148840"/>
          </a:xfrm>
          <a:prstGeom prst="roundRect">
            <a:avLst>
              <a:gd name="adj" fmla="val 6383"/>
            </a:avLst>
          </a:prstGeom>
          <a:solidFill>
            <a:schemeClr val="bg2"/>
          </a:solidFill>
          <a:ln w="12700">
            <a:solidFill>
              <a:schemeClr val="bg2"/>
            </a:solidFill>
            <a:prstDash val="solid"/>
          </a:ln>
        </p:spPr>
      </p:sp>
      <p:sp>
        <p:nvSpPr>
          <p:cNvPr id="19" name="Next 4 badge"/>
          <p:cNvSpPr/>
          <p:nvPr/>
        </p:nvSpPr>
        <p:spPr>
          <a:xfrm>
            <a:off x="9234526" y="1554480"/>
            <a:ext cx="411480" cy="411480"/>
          </a:xfrm>
          <a:prstGeom prst="ellipse">
            <a:avLst/>
          </a:prstGeom>
          <a:solidFill>
            <a:schemeClr val="accent2"/>
          </a:solidFill>
          <a:ln w="12700">
            <a:solidFill>
              <a:schemeClr val="accent2"/>
            </a:solidFill>
            <a:prstDash val="solid"/>
          </a:ln>
        </p:spPr>
      </p:sp>
      <p:sp>
        <p:nvSpPr>
          <p:cNvPr id="20" name="Next 4 badge label"/>
          <p:cNvSpPr txBox="1"/>
          <p:nvPr/>
        </p:nvSpPr>
        <p:spPr>
          <a:xfrm>
            <a:off x="9234526" y="155448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21" name="Text 19"/>
          <p:cNvSpPr txBox="1"/>
          <p:nvPr/>
        </p:nvSpPr>
        <p:spPr>
          <a:xfrm>
            <a:off x="9234526" y="210312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Progress charts</a:t>
            </a:r>
            <a:endParaRPr lang="en-US" sz="1700" dirty="0"/>
          </a:p>
        </p:txBody>
      </p:sp>
      <p:sp>
        <p:nvSpPr>
          <p:cNvPr id="22" name="Text 20"/>
          <p:cNvSpPr txBox="1"/>
          <p:nvPr/>
        </p:nvSpPr>
        <p:spPr>
          <a:xfrm>
            <a:off x="9234526" y="2514600"/>
            <a:ext cx="2148840" cy="868680"/>
          </a:xfrm>
          <a:prstGeom prst="rect">
            <a:avLst/>
          </a:prstGeom>
          <a:noFill/>
          <a:ln/>
        </p:spPr>
        <p:txBody>
          <a:bodyPr wrap="square" lIns="0" tIns="0" rIns="0" bIns="0" rtlCol="0" anchor="t"/>
          <a:lstStyle/>
          <a:p>
            <a:pPr indent="0" marL="0">
              <a:buNone/>
            </a:pPr>
            <a:r>
              <a:rPr lang="en-US" sz="1300" dirty="0">
                <a:solidFill>
                  <a:schemeClr val="tx1"/>
                </a:solidFill>
              </a:rPr>
              <a:t>Per-exercise line graphs (fl_chart)</a:t>
            </a:r>
            <a:endParaRPr lang="en-US" sz="1300" dirty="0"/>
          </a:p>
        </p:txBody>
      </p:sp>
      <p:sp>
        <p:nvSpPr>
          <p:cNvPr id="23" name="Next 5"/>
          <p:cNvSpPr/>
          <p:nvPr/>
        </p:nvSpPr>
        <p:spPr>
          <a:xfrm>
            <a:off x="548640" y="3749040"/>
            <a:ext cx="2606040" cy="2148840"/>
          </a:xfrm>
          <a:prstGeom prst="roundRect">
            <a:avLst>
              <a:gd name="adj" fmla="val 6383"/>
            </a:avLst>
          </a:prstGeom>
          <a:solidFill>
            <a:schemeClr val="bg2"/>
          </a:solidFill>
          <a:ln w="12700">
            <a:solidFill>
              <a:schemeClr val="bg2"/>
            </a:solidFill>
            <a:prstDash val="solid"/>
          </a:ln>
        </p:spPr>
      </p:sp>
      <p:sp>
        <p:nvSpPr>
          <p:cNvPr id="24" name="Next 5 badge"/>
          <p:cNvSpPr/>
          <p:nvPr/>
        </p:nvSpPr>
        <p:spPr>
          <a:xfrm>
            <a:off x="777240" y="3977640"/>
            <a:ext cx="411480" cy="411480"/>
          </a:xfrm>
          <a:prstGeom prst="ellipse">
            <a:avLst/>
          </a:prstGeom>
          <a:solidFill>
            <a:schemeClr val="accent2"/>
          </a:solidFill>
          <a:ln w="12700">
            <a:solidFill>
              <a:schemeClr val="accent2"/>
            </a:solidFill>
            <a:prstDash val="solid"/>
          </a:ln>
        </p:spPr>
      </p:sp>
      <p:sp>
        <p:nvSpPr>
          <p:cNvPr id="25" name="Next 5 badge label"/>
          <p:cNvSpPr txBox="1"/>
          <p:nvPr/>
        </p:nvSpPr>
        <p:spPr>
          <a:xfrm>
            <a:off x="777240" y="397764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26" name="Text 24"/>
          <p:cNvSpPr txBox="1"/>
          <p:nvPr/>
        </p:nvSpPr>
        <p:spPr>
          <a:xfrm>
            <a:off x="777240" y="452628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Offline logging</a:t>
            </a:r>
            <a:endParaRPr lang="en-US" sz="1700" dirty="0"/>
          </a:p>
        </p:txBody>
      </p:sp>
      <p:sp>
        <p:nvSpPr>
          <p:cNvPr id="27" name="Text 25"/>
          <p:cNvSpPr txBox="1"/>
          <p:nvPr/>
        </p:nvSpPr>
        <p:spPr>
          <a:xfrm>
            <a:off x="777240" y="4937760"/>
            <a:ext cx="2148840" cy="868680"/>
          </a:xfrm>
          <a:prstGeom prst="rect">
            <a:avLst/>
          </a:prstGeom>
          <a:noFill/>
          <a:ln/>
        </p:spPr>
        <p:txBody>
          <a:bodyPr wrap="square" lIns="0" tIns="0" rIns="0" bIns="0" rtlCol="0" anchor="t"/>
          <a:lstStyle/>
          <a:p>
            <a:pPr indent="0" marL="0">
              <a:buNone/>
            </a:pPr>
            <a:r>
              <a:rPr lang="en-US" sz="1300" dirty="0">
                <a:solidFill>
                  <a:schemeClr val="tx1"/>
                </a:solidFill>
              </a:rPr>
              <a:t>Queue sets when Rec Center signal drops, sync later</a:t>
            </a:r>
            <a:endParaRPr lang="en-US" sz="1300" dirty="0"/>
          </a:p>
        </p:txBody>
      </p:sp>
      <p:sp>
        <p:nvSpPr>
          <p:cNvPr id="28" name="Next 6"/>
          <p:cNvSpPr/>
          <p:nvPr/>
        </p:nvSpPr>
        <p:spPr>
          <a:xfrm>
            <a:off x="3367735" y="3749040"/>
            <a:ext cx="2606040" cy="2148840"/>
          </a:xfrm>
          <a:prstGeom prst="roundRect">
            <a:avLst>
              <a:gd name="adj" fmla="val 6383"/>
            </a:avLst>
          </a:prstGeom>
          <a:solidFill>
            <a:schemeClr val="bg2"/>
          </a:solidFill>
          <a:ln w="12700">
            <a:solidFill>
              <a:schemeClr val="bg2"/>
            </a:solidFill>
            <a:prstDash val="solid"/>
          </a:ln>
        </p:spPr>
      </p:sp>
      <p:sp>
        <p:nvSpPr>
          <p:cNvPr id="29" name="Next 6 badge"/>
          <p:cNvSpPr/>
          <p:nvPr/>
        </p:nvSpPr>
        <p:spPr>
          <a:xfrm>
            <a:off x="3596335" y="3977640"/>
            <a:ext cx="411480" cy="411480"/>
          </a:xfrm>
          <a:prstGeom prst="ellipse">
            <a:avLst/>
          </a:prstGeom>
          <a:solidFill>
            <a:schemeClr val="accent2"/>
          </a:solidFill>
          <a:ln w="12700">
            <a:solidFill>
              <a:schemeClr val="accent2"/>
            </a:solidFill>
            <a:prstDash val="solid"/>
          </a:ln>
        </p:spPr>
      </p:sp>
      <p:sp>
        <p:nvSpPr>
          <p:cNvPr id="30" name="Next 6 badge label"/>
          <p:cNvSpPr txBox="1"/>
          <p:nvPr/>
        </p:nvSpPr>
        <p:spPr>
          <a:xfrm>
            <a:off x="3596335" y="397764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6</a:t>
            </a:r>
            <a:endParaRPr lang="en-US" sz="1600" dirty="0"/>
          </a:p>
        </p:txBody>
      </p:sp>
      <p:sp>
        <p:nvSpPr>
          <p:cNvPr id="31" name="Text 29"/>
          <p:cNvSpPr txBox="1"/>
          <p:nvPr/>
        </p:nvSpPr>
        <p:spPr>
          <a:xfrm>
            <a:off x="3596335" y="452628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Health data</a:t>
            </a:r>
            <a:endParaRPr lang="en-US" sz="1700" dirty="0"/>
          </a:p>
        </p:txBody>
      </p:sp>
      <p:sp>
        <p:nvSpPr>
          <p:cNvPr id="32" name="Text 30"/>
          <p:cNvSpPr txBox="1"/>
          <p:nvPr/>
        </p:nvSpPr>
        <p:spPr>
          <a:xfrm>
            <a:off x="3596335" y="4937760"/>
            <a:ext cx="2148840" cy="868680"/>
          </a:xfrm>
          <a:prstGeom prst="rect">
            <a:avLst/>
          </a:prstGeom>
          <a:noFill/>
          <a:ln/>
        </p:spPr>
        <p:txBody>
          <a:bodyPr wrap="square" lIns="0" tIns="0" rIns="0" bIns="0" rtlCol="0" anchor="t"/>
          <a:lstStyle/>
          <a:p>
            <a:pPr indent="0" marL="0">
              <a:buNone/>
            </a:pPr>
            <a:r>
              <a:rPr lang="en-US" sz="1300" dirty="0">
                <a:solidFill>
                  <a:schemeClr val="tx1"/>
                </a:solidFill>
              </a:rPr>
              <a:t>Fitbit heart rate + steps, with manual entry fallback</a:t>
            </a:r>
            <a:endParaRPr lang="en-US" sz="1300" dirty="0"/>
          </a:p>
        </p:txBody>
      </p:sp>
      <p:sp>
        <p:nvSpPr>
          <p:cNvPr id="33" name="Next 7"/>
          <p:cNvSpPr/>
          <p:nvPr/>
        </p:nvSpPr>
        <p:spPr>
          <a:xfrm>
            <a:off x="6186830" y="3749040"/>
            <a:ext cx="2606040" cy="2148840"/>
          </a:xfrm>
          <a:prstGeom prst="roundRect">
            <a:avLst>
              <a:gd name="adj" fmla="val 6383"/>
            </a:avLst>
          </a:prstGeom>
          <a:solidFill>
            <a:schemeClr val="bg2"/>
          </a:solidFill>
          <a:ln w="12700">
            <a:solidFill>
              <a:schemeClr val="bg2"/>
            </a:solidFill>
            <a:prstDash val="solid"/>
          </a:ln>
        </p:spPr>
      </p:sp>
      <p:sp>
        <p:nvSpPr>
          <p:cNvPr id="34" name="Next 7 badge"/>
          <p:cNvSpPr/>
          <p:nvPr/>
        </p:nvSpPr>
        <p:spPr>
          <a:xfrm>
            <a:off x="6415430" y="3977640"/>
            <a:ext cx="411480" cy="411480"/>
          </a:xfrm>
          <a:prstGeom prst="ellipse">
            <a:avLst/>
          </a:prstGeom>
          <a:solidFill>
            <a:schemeClr val="accent2"/>
          </a:solidFill>
          <a:ln w="12700">
            <a:solidFill>
              <a:schemeClr val="accent2"/>
            </a:solidFill>
            <a:prstDash val="solid"/>
          </a:ln>
        </p:spPr>
      </p:sp>
      <p:sp>
        <p:nvSpPr>
          <p:cNvPr id="35" name="Next 7 badge label"/>
          <p:cNvSpPr txBox="1"/>
          <p:nvPr/>
        </p:nvSpPr>
        <p:spPr>
          <a:xfrm>
            <a:off x="6415430" y="397764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7</a:t>
            </a:r>
            <a:endParaRPr lang="en-US" sz="1600" dirty="0"/>
          </a:p>
        </p:txBody>
      </p:sp>
      <p:sp>
        <p:nvSpPr>
          <p:cNvPr id="36" name="Text 34"/>
          <p:cNvSpPr txBox="1"/>
          <p:nvPr/>
        </p:nvSpPr>
        <p:spPr>
          <a:xfrm>
            <a:off x="6415430" y="452628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Rest timer</a:t>
            </a:r>
            <a:endParaRPr lang="en-US" sz="1700" dirty="0"/>
          </a:p>
        </p:txBody>
      </p:sp>
      <p:sp>
        <p:nvSpPr>
          <p:cNvPr id="37" name="Text 35"/>
          <p:cNvSpPr txBox="1"/>
          <p:nvPr/>
        </p:nvSpPr>
        <p:spPr>
          <a:xfrm>
            <a:off x="6415430" y="4937760"/>
            <a:ext cx="2148840" cy="868680"/>
          </a:xfrm>
          <a:prstGeom prst="rect">
            <a:avLst/>
          </a:prstGeom>
          <a:noFill/>
          <a:ln/>
        </p:spPr>
        <p:txBody>
          <a:bodyPr wrap="square" lIns="0" tIns="0" rIns="0" bIns="0" rtlCol="0" anchor="t"/>
          <a:lstStyle/>
          <a:p>
            <a:pPr indent="0" marL="0">
              <a:buNone/>
            </a:pPr>
            <a:r>
              <a:rPr lang="en-US" sz="1300" dirty="0">
                <a:solidFill>
                  <a:schemeClr val="tx1"/>
                </a:solidFill>
              </a:rPr>
              <a:t>Customizable, with Android background notifications</a:t>
            </a:r>
            <a:endParaRPr lang="en-US" sz="1300" dirty="0"/>
          </a:p>
        </p:txBody>
      </p:sp>
      <p:sp>
        <p:nvSpPr>
          <p:cNvPr id="38" name="Next 8"/>
          <p:cNvSpPr/>
          <p:nvPr/>
        </p:nvSpPr>
        <p:spPr>
          <a:xfrm>
            <a:off x="9005926" y="3749040"/>
            <a:ext cx="2606040" cy="2148840"/>
          </a:xfrm>
          <a:prstGeom prst="roundRect">
            <a:avLst>
              <a:gd name="adj" fmla="val 6383"/>
            </a:avLst>
          </a:prstGeom>
          <a:solidFill>
            <a:schemeClr val="bg2"/>
          </a:solidFill>
          <a:ln w="12700">
            <a:solidFill>
              <a:schemeClr val="bg2"/>
            </a:solidFill>
            <a:prstDash val="solid"/>
          </a:ln>
        </p:spPr>
      </p:sp>
      <p:sp>
        <p:nvSpPr>
          <p:cNvPr id="39" name="Next 8 badge"/>
          <p:cNvSpPr/>
          <p:nvPr/>
        </p:nvSpPr>
        <p:spPr>
          <a:xfrm>
            <a:off x="9234526" y="3977640"/>
            <a:ext cx="411480" cy="411480"/>
          </a:xfrm>
          <a:prstGeom prst="ellipse">
            <a:avLst/>
          </a:prstGeom>
          <a:solidFill>
            <a:schemeClr val="accent2"/>
          </a:solidFill>
          <a:ln w="12700">
            <a:solidFill>
              <a:schemeClr val="accent2"/>
            </a:solidFill>
            <a:prstDash val="solid"/>
          </a:ln>
        </p:spPr>
      </p:sp>
      <p:sp>
        <p:nvSpPr>
          <p:cNvPr id="40" name="Next 8 badge label"/>
          <p:cNvSpPr txBox="1"/>
          <p:nvPr/>
        </p:nvSpPr>
        <p:spPr>
          <a:xfrm>
            <a:off x="9234526" y="397764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8</a:t>
            </a:r>
            <a:endParaRPr lang="en-US" sz="1600" dirty="0"/>
          </a:p>
        </p:txBody>
      </p:sp>
      <p:sp>
        <p:nvSpPr>
          <p:cNvPr id="41" name="Text 39"/>
          <p:cNvSpPr txBox="1"/>
          <p:nvPr/>
        </p:nvSpPr>
        <p:spPr>
          <a:xfrm>
            <a:off x="9234526" y="452628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Equipment swaps</a:t>
            </a:r>
            <a:endParaRPr lang="en-US" sz="1700" dirty="0"/>
          </a:p>
        </p:txBody>
      </p:sp>
      <p:sp>
        <p:nvSpPr>
          <p:cNvPr id="42" name="Text 40"/>
          <p:cNvSpPr txBox="1"/>
          <p:nvPr/>
        </p:nvSpPr>
        <p:spPr>
          <a:xfrm>
            <a:off x="9234526" y="4937760"/>
            <a:ext cx="2148840" cy="868680"/>
          </a:xfrm>
          <a:prstGeom prst="rect">
            <a:avLst/>
          </a:prstGeom>
          <a:noFill/>
          <a:ln/>
        </p:spPr>
        <p:txBody>
          <a:bodyPr wrap="square" lIns="0" tIns="0" rIns="0" bIns="0" rtlCol="0" anchor="t"/>
          <a:lstStyle/>
          <a:p>
            <a:pPr indent="0" marL="0">
              <a:buNone/>
            </a:pPr>
            <a:r>
              <a:rPr lang="en-US" sz="1300" dirty="0">
                <a:solidFill>
                  <a:schemeClr val="tx1"/>
                </a:solidFill>
              </a:rPr>
              <a:t>"Machine busy?" suggests an alternative exercise</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6035040" cy="1463040"/>
          </a:xfrm>
          <a:prstGeom prst="rect">
            <a:avLst/>
          </a:prstGeom>
          <a:noFill/>
          <a:ln/>
        </p:spPr>
        <p:txBody>
          <a:bodyPr wrap="square" lIns="0" tIns="0" rIns="0" bIns="0" rtlCol="0" anchor="b"/>
          <a:lstStyle/>
          <a:p>
            <a:pPr algn="l" indent="0" marL="0">
              <a:buNone/>
            </a:pPr>
            <a:r>
              <a:rPr lang="en-US" sz="5400" b="1" dirty="0">
                <a:solidFill>
                  <a:schemeClr val="bg1"/>
                </a:solidFill>
              </a:rPr>
              <a:t>Try it yourself</a:t>
            </a:r>
            <a:endParaRPr lang="en-US" sz="5400" dirty="0"/>
          </a:p>
        </p:txBody>
      </p:sp>
      <p:sp>
        <p:nvSpPr>
          <p:cNvPr id="3" name="Text 0"/>
          <p:cNvSpPr/>
          <p:nvPr>
            <p:ph idx="101" type="body" hasCustomPrompt="1"/>
          </p:nvPr>
        </p:nvSpPr>
        <p:spPr>
          <a:xfrm>
            <a:off x="640080" y="3703320"/>
            <a:ext cx="5852160" cy="1463040"/>
          </a:xfrm>
          <a:prstGeom prst="rect">
            <a:avLst/>
          </a:prstGeom>
          <a:noFill/>
          <a:ln/>
        </p:spPr>
        <p:txBody>
          <a:bodyPr wrap="square" lIns="0" tIns="0" rIns="0" bIns="0" rtlCol="0" anchor="t"/>
          <a:lstStyle/>
          <a:p>
            <a:pPr indent="0" marL="0">
              <a:buNone/>
            </a:pPr>
            <a:r>
              <a:rPr lang="en-US" sz="1800" dirty="0">
                <a:solidFill>
                  <a:schemeClr val="accent3"/>
                </a:solidFill>
              </a:rPr>
              <a:t>Full steps in presentation/UserGuide.docx</a:t>
            </a:r>
            <a:endParaRPr lang="en-US" sz="1800" dirty="0"/>
          </a:p>
        </p:txBody>
      </p:sp>
      <p:sp>
        <p:nvSpPr>
          <p:cNvPr id="4" name="Command card"/>
          <p:cNvSpPr/>
          <p:nvPr/>
        </p:nvSpPr>
        <p:spPr>
          <a:xfrm>
            <a:off x="6172200" y="2606040"/>
            <a:ext cx="5468112" cy="1645920"/>
          </a:xfrm>
          <a:prstGeom prst="roundRect">
            <a:avLst>
              <a:gd name="adj" fmla="val 8333"/>
            </a:avLst>
          </a:prstGeom>
          <a:solidFill>
            <a:schemeClr val="tx1"/>
          </a:solidFill>
          <a:ln w="19050">
            <a:solidFill>
              <a:schemeClr val="accent2"/>
            </a:solidFill>
            <a:prstDash val="solid"/>
          </a:ln>
        </p:spPr>
      </p:sp>
      <p:sp>
        <p:nvSpPr>
          <p:cNvPr id="5" name="Run commands"/>
          <p:cNvSpPr txBox="1"/>
          <p:nvPr/>
        </p:nvSpPr>
        <p:spPr>
          <a:xfrm>
            <a:off x="6400800" y="2788920"/>
            <a:ext cx="5029200" cy="1280160"/>
          </a:xfrm>
          <a:prstGeom prst="rect">
            <a:avLst/>
          </a:prstGeom>
          <a:noFill/>
          <a:ln/>
        </p:spPr>
        <p:txBody>
          <a:bodyPr wrap="square" lIns="0" tIns="0" rIns="0" bIns="0" rtlCol="0" anchor="t"/>
          <a:lstStyle/>
          <a:p>
            <a:pPr indent="0" marL="0">
              <a:spcAft>
                <a:spcPts val="1200"/>
              </a:spcAft>
              <a:buNone/>
            </a:pPr>
            <a:r>
              <a:rPr lang="en-US" sz="1300" dirty="0">
                <a:solidFill>
                  <a:schemeClr val="accent3"/>
                </a:solidFill>
                <a:latin typeface="Courier New" pitchFamily="34" charset="0"/>
                <a:ea typeface="Courier New" pitchFamily="34" charset="-122"/>
                <a:cs typeface="Courier New" pitchFamily="34" charset="-120"/>
              </a:rPr>
              <a:t>flutter pub get</a:t>
            </a:r>
            <a:endParaRPr lang="en-US" sz="1300" dirty="0"/>
          </a:p>
          <a:p>
            <a:pPr indent="0" marL="0">
              <a:spcAft>
                <a:spcPts val="1200"/>
              </a:spcAft>
              <a:buNone/>
            </a:pPr>
            <a:r>
              <a:rPr lang="en-US" sz="1300" dirty="0">
                <a:solidFill>
                  <a:schemeClr val="accent3"/>
                </a:solidFill>
                <a:latin typeface="Courier New" pitchFamily="34" charset="0"/>
                <a:ea typeface="Courier New" pitchFamily="34" charset="-122"/>
                <a:cs typeface="Courier New" pitchFamily="34" charset="-120"/>
              </a:rPr>
              <a:t>flutter run -d chrome --dart-define-from-file=.env</a:t>
            </a:r>
            <a:endParaRPr lang="en-US" sz="1300" dirty="0"/>
          </a:p>
          <a:p>
            <a:pPr indent="0" marL="0">
              <a:spcAft>
                <a:spcPts val="1200"/>
              </a:spcAft>
              <a:buNone/>
            </a:pPr>
            <a:r>
              <a:rPr lang="en-US" sz="1300" dirty="0">
                <a:solidFill>
                  <a:schemeClr val="accent3"/>
                </a:solidFill>
                <a:latin typeface="Courier New" pitchFamily="34" charset="0"/>
                <a:ea typeface="Courier New" pitchFamily="34" charset="-122"/>
                <a:cs typeface="Courier New" pitchFamily="34" charset="-120"/>
              </a:rPr>
              <a:t>flutter test</a:t>
            </a:r>
            <a:endParaRPr lang="en-US" sz="1300" dirty="0"/>
          </a:p>
        </p:txBody>
      </p:sp>
    </p:spTree>
  </p:cSld>
  <p:clrMapOvr>
    <a:masterClrMapping/>
  </p:clrMapOvr>
</p:sld>
</file>

<file path=ppt/theme/theme1.xml><?xml version="1.0" encoding="utf-8"?>
<a:theme xmlns:a="http://schemas.openxmlformats.org/drawingml/2006/main" name="LionFit Green and Gold">
  <a:themeElements>
    <a:clrScheme name="LionFit Green and Gold">
      <a:dk1>
        <a:srgbClr val="111611"/>
      </a:dk1>
      <a:lt1>
        <a:srgbClr val="FFFFFF"/>
      </a:lt1>
      <a:dk2>
        <a:srgbClr val="0B4022"/>
      </a:dk2>
      <a:lt2>
        <a:srgbClr val="EFF4F0"/>
      </a:lt2>
      <a:accent1>
        <a:srgbClr val="1A5634"/>
      </a:accent1>
      <a:accent2>
        <a:srgbClr val="BF9C1F"/>
      </a:accent2>
      <a:accent3>
        <a:srgbClr val="F8CB28"/>
      </a:accent3>
      <a:accent4>
        <a:srgbClr val="2E9E5B"/>
      </a:accent4>
      <a:accent5>
        <a:srgbClr val="D32F2F"/>
      </a:accent5>
      <a:accent6>
        <a:srgbClr val="6D7670"/>
      </a:accent6>
      <a:hlink>
        <a:srgbClr val="1A5634"/>
      </a:hlink>
      <a:folHlink>
        <a:srgbClr val="6E5700"/>
      </a:folHlink>
    </a:clrScheme>
    <a:fontScheme name="LionFit Green and Gol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LionFit - App Schema and Status</dc:title>
  <dc:subject>PptxGenJS Presentation</dc:subject>
  <dc:creator>LionFit team, CMPS 401</dc:creator>
  <cp:lastModifiedBy>LionFit team, CMPS 401</cp:lastModifiedBy>
  <cp:revision>1</cp:revision>
  <dcterms:created xsi:type="dcterms:W3CDTF">2026-10-18T00:46:08Z</dcterms:created>
  <dcterms:modified xsi:type="dcterms:W3CDTF">2026-10-18T00:46:08Z</dcterms:modified>
</cp:coreProperties>
</file>